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da33600-3b25-e774-43a4-42cef5696218}">
          <p14:sldIdLst>
            <p14:sldId id="256"/>
            <p14:sldId id="257"/>
          </p14:sldIdLst>
        </p14:section>
        <p14:section name="Method" id="{a4ed34f5-a11e-547f-f42e-8a17c8fded46}">
          <p14:sldIdLst>
            <p14:sldId id="258"/>
            <p14:sldId id="259"/>
            <p14:sldId id="260"/>
            <p14:sldId id="261"/>
          </p14:sldIdLst>
        </p14:section>
        <p14:section name="Results" id="{de3c4fdc-df3e-0862-e226-1c2cfc61efa3}">
          <p14:sldIdLst>
            <p14:sldId id="262"/>
            <p14:sldId id="263"/>
            <p14:sldId id="264"/>
          </p14:sldIdLst>
        </p14:section>
        <p14:section name="Conclusion" id="{2c334d77-f25b-d314-a92e-39682798ded9}">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Test-set error (RMSE %, lower is better)</a:t>
            </a:r>
          </a:p>
        </c:rich>
      </c:tx>
      <c:layout/>
      <c:overlay val="0"/>
    </c:title>
    <c:autoTitleDeleted val="0"/>
    <c:plotArea>
      <c:layout/>
      <c:barChart>
        <c:barDir val="col"/>
        <c:grouping val="clustered"/>
        <c:varyColors val="0"/>
        <c:ser>
          <c:idx val="0"/>
          <c:order val="0"/>
          <c:tx>
            <c:strRef>
              <c:f>Sheet1!$B$1</c:f>
              <c:strCache>
                <c:ptCount val="1"/>
                <c:pt idx="0">
                  <c:v>Own features only</c:v>
                </c:pt>
              </c:strCache>
            </c:strRef>
          </c:tx>
          <c:spPr>
            <a:solidFill>
              <a:srgbClr val="8D99AE"/>
            </a:solidFill>
            <a:effectLst/>
          </c:spPr>
          <c:invertIfNegative val="0"/>
          <c:dLbls>
            <c:numFmt formatCode="0.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Sheet1!$A$2:$A$6</c:f>
              <c:multiLvlStrCache>
                <c:ptCount val="5"/>
                <c:lvl>
                  <c:pt idx="0">
                    <c:v>Predict 0</c:v>
                  </c:pt>
                  <c:pt idx="1">
                    <c:v>Random Forest</c:v>
                  </c:pt>
                  <c:pt idx="2">
                    <c:v>Gradient Boosting</c:v>
                  </c:pt>
                  <c:pt idx="3">
                    <c:v>Elastic Net</c:v>
                  </c:pt>
                  <c:pt idx="4">
                    <c:v>Decision Tree</c:v>
                  </c:pt>
                </c:lvl>
              </c:multiLvlStrCache>
            </c:multiLvlStrRef>
          </c:cat>
          <c:val>
            <c:numRef>
              <c:f>Sheet1!$B$2:$B$6</c:f>
              <c:numCache>
                <c:formatCode>General</c:formatCode>
                <c:ptCount val="5"/>
                <c:pt idx="0">
                  <c:v>3.375</c:v>
                </c:pt>
                <c:pt idx="1">
                  <c:v>3.432</c:v>
                </c:pt>
                <c:pt idx="2">
                  <c:v>3.42</c:v>
                </c:pt>
                <c:pt idx="3">
                  <c:v>3.387</c:v>
                </c:pt>
                <c:pt idx="4">
                  <c:v>3.47</c:v>
                </c:pt>
              </c:numCache>
            </c:numRef>
          </c:val>
        </c:ser>
        <c:ser>
          <c:idx val="1"/>
          <c:order val="1"/>
          <c:tx>
            <c:strRef>
              <c:f>Sheet1!$C$1</c:f>
              <c:strCache>
                <c:ptCount val="1"/>
                <c:pt idx="0">
                  <c:v>Own + supplier features</c:v>
                </c:pt>
              </c:strCache>
            </c:strRef>
          </c:tx>
          <c:spPr>
            <a:solidFill>
              <a:srgbClr val="2A9D8F"/>
            </a:solidFill>
            <a:effectLst/>
          </c:spPr>
          <c:invertIfNegative val="0"/>
          <c:dLbls>
            <c:numFmt formatCode="0.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Sheet1!$A$2:$A$6</c:f>
              <c:multiLvlStrCache>
                <c:ptCount val="5"/>
                <c:lvl>
                  <c:pt idx="0">
                    <c:v>Predict 0</c:v>
                  </c:pt>
                  <c:pt idx="1">
                    <c:v>Random Forest</c:v>
                  </c:pt>
                  <c:pt idx="2">
                    <c:v>Gradient Boosting</c:v>
                  </c:pt>
                  <c:pt idx="3">
                    <c:v>Elastic Net</c:v>
                  </c:pt>
                  <c:pt idx="4">
                    <c:v>Decision Tree</c:v>
                  </c:pt>
                </c:lvl>
              </c:multiLvlStrCache>
            </c:multiLvlStrRef>
          </c:cat>
          <c:val>
            <c:numRef>
              <c:f>Sheet1!$C$2:$C$6</c:f>
              <c:numCache>
                <c:formatCode>General</c:formatCode>
                <c:ptCount val="5"/>
                <c:pt idx="0">
                  <c:v>3.375</c:v>
                </c:pt>
                <c:pt idx="1">
                  <c:v>3.356</c:v>
                </c:pt>
                <c:pt idx="2">
                  <c:v>3.385</c:v>
                </c:pt>
                <c:pt idx="3">
                  <c:v>3.387</c:v>
                </c:pt>
                <c:pt idx="4">
                  <c:v>3.47</c:v>
                </c:pt>
              </c:numCache>
            </c:numRef>
          </c:val>
        </c:ser>
        <c:dLbls>
          <c:numFmt formatCode="0.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3.5"/>
          <c:min val="3.3"/>
        </c:scaling>
        <c:delete val="0"/>
        <c:axPos val="l"/>
        <c:majorGridlines>
          <c:spPr>
            <a:ln w="9525" cap="flat">
              <a:solidFill>
                <a:srgbClr val="E2E8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question: carmakers depend on their suppliers, so do the suppliers' stock moves help predict the carmaker's stock? We test this for Maruti Suzuki, following a Stanford CS229 project that did the same for Volkswagen.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Glawion (2021) predicted VW from 30 suppliers. Elastic Net was best, and the headline was 21.49% vs 7.98% buy-and-hold. But that was the best of 96 model/horizon/threshold combinations, with no costs, and the paper's footnote admits that always predicting zero gives almost the same error. We set out to repeat the idea for India and fix these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10 years of daily data from Yahoo Finance. The target is Maruti Suzuki. The peers are nine listed suppliers — parts makers, tyre and battery makers, and steel — plus the NIFTY 50 index. All ten had enough history, so none were dropped. 2,415 usable days after we remove the warm-up period and the last five days, which have no future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The key rule in feature building: a row for day t only uses information available at the close of day t. The target is the 5-day forward return. Then a time-ordered split, tuning on the validation period, one final test, and a backtest with transaction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groups of features: 11 from Maruti's own prices and volume, and 50 from the peers — ten stocks times their last five daily returns. We compare four models, plus two baselines. The baselines matter: any model has to beat simply guessing zero to be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 data is a time series, so we never shuffle. We train on 2016 to 2022, choose settings on 2022 to 2024, and score once on the last two years. A 5-day gap at each boundary stops training targets overlapping the next period. We also re-ran everything over five separate years (walk-forward), and at three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Grey is each model with Maruti's own features, teal is with the supplier features added. The first pair is the predict-zero baseline. Only Random Forest with suppliers gets below it, by about one percent. Suppliers helped the two tree ensembles, which can pick up conditional patterns; Elastic Net and the single tree ignored them. And the model that won on validation was the worst on test — the validation scores were nearly tied, so that win was mostly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test period can be lucky, so we re-ran everything over five separate years. No model beat the zero baseline consistently — the best managed two years out of five. Across horizons, error grows the further ahead we predict, exactly as the paper found. Interestingly, at 20 days the supplier features help more: both ensembles beat zero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strategy made 6.7% while the stock fell 3.3%, with a smaller worst drop. But look at the chart: it tracks buy-and-hold closely and pulls ahead mainly by being out of the market during the final fall. Since the forecasts themselves don't beat zero, we don't claim an edge. This is the same trap as the paper's 21%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Suppliers carry a small signal, usable only by the tree ensembles. Backtest profits can mislead when the forecasts underneath don't beat a baseline. And including baselines is what makes the results interpretable. Then limitations, next steps, and who did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Load Maruti with suppliers from Yahoo (or upload the saved CSVs if the network fails). Train, point at whether the selected model beats predict-0, show the with/without-suppliers table, move the cost slider to show the strategy change instantly, then run walk-forward.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804672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49040"/>
            <a:ext cx="8046720" cy="8229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UE24CS352A · Supplier signals for Maruti Suzuki</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8046720" cy="1737360"/>
          </a:xfrm>
          <a:prstGeom prst="rect">
            <a:avLst/>
          </a:prstGeom>
          <a:noFill/>
          <a:ln/>
        </p:spPr>
        <p:txBody>
          <a:bodyPr wrap="square" lIns="0" tIns="0" rIns="0" bIns="0" rtlCol="0" anchor="b"/>
          <a:lstStyle/>
          <a:p>
            <a:pPr algn="l" indent="0" marL="0">
              <a:buNone/>
            </a:pPr>
            <a:r>
              <a:rPr lang="en-US" sz="4400" b="1" dirty="0">
                <a:solidFill>
                  <a:schemeClr val="bg1"/>
                </a:solidFill>
              </a:rPr>
              <a:t>Can supplier stocks predict Maruti Suzuki?</a:t>
            </a:r>
            <a:endParaRPr lang="en-US" sz="4400" dirty="0"/>
          </a:p>
        </p:txBody>
      </p:sp>
      <p:sp>
        <p:nvSpPr>
          <p:cNvPr id="3" name="Text 0"/>
          <p:cNvSpPr/>
          <p:nvPr>
            <p:ph idx="101" type="body" hasCustomPrompt="1"/>
          </p:nvPr>
        </p:nvSpPr>
        <p:spPr>
          <a:xfrm>
            <a:off x="731520" y="3749040"/>
            <a:ext cx="8046720" cy="822960"/>
          </a:xfrm>
          <a:prstGeom prst="rect">
            <a:avLst/>
          </a:prstGeom>
          <a:noFill/>
          <a:ln/>
        </p:spPr>
        <p:txBody>
          <a:bodyPr wrap="square" lIns="0" tIns="0" rIns="0" bIns="0" rtlCol="0" anchor="t"/>
          <a:lstStyle/>
          <a:p>
            <a:pPr algn="l" indent="0" marL="0">
              <a:buNone/>
            </a:pPr>
            <a:r>
              <a:rPr lang="en-US" sz="2000" dirty="0">
                <a:solidFill>
                  <a:schemeClr val="accent6"/>
                </a:solidFill>
              </a:rPr>
              <a:t>Forecasting Indian stock returns with machine learning</a:t>
            </a:r>
            <a:endParaRPr lang="en-US" sz="2000" dirty="0"/>
          </a:p>
        </p:txBody>
      </p:sp>
      <p:sp>
        <p:nvSpPr>
          <p:cNvPr id="4" name="Team"/>
          <p:cNvSpPr txBox="1"/>
          <p:nvPr/>
        </p:nvSpPr>
        <p:spPr>
          <a:xfrm>
            <a:off x="731520" y="4937760"/>
            <a:ext cx="5486400" cy="365760"/>
          </a:xfrm>
          <a:prstGeom prst="rect">
            <a:avLst/>
          </a:prstGeom>
          <a:noFill/>
          <a:ln/>
        </p:spPr>
        <p:txBody>
          <a:bodyPr wrap="square" lIns="0" tIns="0" rIns="0" bIns="0" rtlCol="0" anchor="ctr"/>
          <a:lstStyle/>
          <a:p>
            <a:pPr indent="0" marL="0">
              <a:buNone/>
            </a:pPr>
            <a:r>
              <a:rPr lang="en-US" sz="1800" b="1" dirty="0">
                <a:solidFill>
                  <a:schemeClr val="bg1"/>
                </a:solidFill>
              </a:rPr>
              <a:t>Nyssa · Yathindra</a:t>
            </a:r>
            <a:endParaRPr lang="en-US" sz="1800" dirty="0"/>
          </a:p>
        </p:txBody>
      </p:sp>
      <p:sp>
        <p:nvSpPr>
          <p:cNvPr id="5" name="Course"/>
          <p:cNvSpPr txBox="1"/>
          <p:nvPr/>
        </p:nvSpPr>
        <p:spPr>
          <a:xfrm>
            <a:off x="731520" y="5349240"/>
            <a:ext cx="5486400" cy="320040"/>
          </a:xfrm>
          <a:prstGeom prst="rect">
            <a:avLst/>
          </a:prstGeom>
          <a:noFill/>
          <a:ln/>
        </p:spPr>
        <p:txBody>
          <a:bodyPr wrap="square" lIns="0" tIns="0" rIns="0" bIns="0" rtlCol="0" anchor="ctr"/>
          <a:lstStyle/>
          <a:p>
            <a:pPr indent="0" marL="0">
              <a:buNone/>
            </a:pPr>
            <a:r>
              <a:rPr lang="en-US" sz="1400" dirty="0">
                <a:solidFill>
                  <a:schemeClr val="accent3"/>
                </a:solidFill>
              </a:rPr>
              <a:t>UE24CS352A Machine Learning · Mini-Project</a:t>
            </a:r>
            <a:endParaRPr lang="en-US" sz="1400" dirty="0"/>
          </a:p>
        </p:txBody>
      </p:sp>
      <p:sp>
        <p:nvSpPr>
          <p:cNvPr id="6" name="Hero circle"/>
          <p:cNvSpPr/>
          <p:nvPr/>
        </p:nvSpPr>
        <p:spPr>
          <a:xfrm>
            <a:off x="9144000" y="1737360"/>
            <a:ext cx="2468880" cy="2468880"/>
          </a:xfrm>
          <a:prstGeom prst="ellipse">
            <a:avLst/>
          </a:prstGeom>
          <a:solidFill>
            <a:schemeClr val="accent1"/>
          </a:solidFill>
          <a:ln/>
        </p:spPr>
      </p:sp>
      <p:pic>
        <p:nvPicPr>
          <p:cNvPr id="7" name="Hero icon" descr="preencoded.png">    </p:cNvPr>
          <p:cNvPicPr>
            <a:picLocks noChangeAspect="1"/>
          </p:cNvPicPr>
          <p:nvPr/>
        </p:nvPicPr>
        <p:blipFill>
          <a:blip r:embed="rId1"/>
          <a:stretch>
            <a:fillRect/>
          </a:stretch>
        </p:blipFill>
        <p:spPr>
          <a:xfrm>
            <a:off x="9646920" y="224028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Stanford paper we built on</a:t>
            </a:r>
            <a:endParaRPr lang="en-US" sz="3600" dirty="0"/>
          </a:p>
        </p:txBody>
      </p:sp>
      <p:sp>
        <p:nvSpPr>
          <p:cNvPr id="3" name="Paper row 1 circle"/>
          <p:cNvSpPr/>
          <p:nvPr/>
        </p:nvSpPr>
        <p:spPr>
          <a:xfrm>
            <a:off x="548640" y="1417320"/>
            <a:ext cx="685800" cy="685800"/>
          </a:xfrm>
          <a:prstGeom prst="ellipse">
            <a:avLst/>
          </a:prstGeom>
          <a:solidFill>
            <a:schemeClr val="tx2"/>
          </a:solidFill>
          <a:ln/>
        </p:spPr>
      </p:sp>
      <p:pic>
        <p:nvPicPr>
          <p:cNvPr id="4" name="Paper row 1 icon" descr="preencoded.png">    </p:cNvPr>
          <p:cNvPicPr>
            <a:picLocks noChangeAspect="1"/>
          </p:cNvPicPr>
          <p:nvPr/>
        </p:nvPicPr>
        <p:blipFill>
          <a:blip r:embed="rId1"/>
          <a:stretch>
            <a:fillRect/>
          </a:stretch>
        </p:blipFill>
        <p:spPr>
          <a:xfrm>
            <a:off x="720090" y="1588770"/>
            <a:ext cx="342900" cy="342900"/>
          </a:xfrm>
          <a:prstGeom prst="rect">
            <a:avLst/>
          </a:prstGeom>
        </p:spPr>
      </p:pic>
      <p:sp>
        <p:nvSpPr>
          <p:cNvPr id="5" name="Text 2"/>
          <p:cNvSpPr txBox="1"/>
          <p:nvPr/>
        </p:nvSpPr>
        <p:spPr>
          <a:xfrm>
            <a:off x="1463040" y="1399032"/>
            <a:ext cx="5120640" cy="365760"/>
          </a:xfrm>
          <a:prstGeom prst="rect">
            <a:avLst/>
          </a:prstGeom>
          <a:noFill/>
          <a:ln/>
        </p:spPr>
        <p:txBody>
          <a:bodyPr wrap="square" lIns="0" tIns="0" rIns="0" bIns="0" rtlCol="0" anchor="ctr"/>
          <a:lstStyle/>
          <a:p>
            <a:pPr indent="0" marL="0">
              <a:buNone/>
            </a:pPr>
            <a:r>
              <a:rPr lang="en-US" sz="1800" b="1" dirty="0">
                <a:solidFill>
                  <a:schemeClr val="tx2"/>
                </a:solidFill>
              </a:rPr>
              <a:t>Volkswagen + 30 suppliers</a:t>
            </a:r>
            <a:endParaRPr lang="en-US" sz="1800" dirty="0"/>
          </a:p>
        </p:txBody>
      </p:sp>
      <p:sp>
        <p:nvSpPr>
          <p:cNvPr id="6" name="Text 3"/>
          <p:cNvSpPr txBox="1"/>
          <p:nvPr/>
        </p:nvSpPr>
        <p:spPr>
          <a:xfrm>
            <a:off x="1463040" y="1783080"/>
            <a:ext cx="5120640" cy="594360"/>
          </a:xfrm>
          <a:prstGeom prst="rect">
            <a:avLst/>
          </a:prstGeom>
          <a:noFill/>
          <a:ln/>
        </p:spPr>
        <p:txBody>
          <a:bodyPr wrap="square" lIns="0" tIns="0" rIns="0" bIns="0" rtlCol="0" anchor="t"/>
          <a:lstStyle/>
          <a:p>
            <a:pPr indent="0" marL="0">
              <a:buNone/>
            </a:pPr>
            <a:r>
              <a:rPr lang="en-US" sz="1400" dirty="0">
                <a:solidFill>
                  <a:schemeClr val="tx1"/>
                </a:solidFill>
              </a:rPr>
              <a:t>Each supplier's daily returns over the past 28 days, plus German macro data</a:t>
            </a:r>
            <a:endParaRPr lang="en-US" sz="1400" dirty="0"/>
          </a:p>
        </p:txBody>
      </p:sp>
      <p:sp>
        <p:nvSpPr>
          <p:cNvPr id="7" name="Paper row 2 circle"/>
          <p:cNvSpPr/>
          <p:nvPr/>
        </p:nvSpPr>
        <p:spPr>
          <a:xfrm>
            <a:off x="548640" y="2606040"/>
            <a:ext cx="685800" cy="685800"/>
          </a:xfrm>
          <a:prstGeom prst="ellipse">
            <a:avLst/>
          </a:prstGeom>
          <a:solidFill>
            <a:schemeClr val="tx2"/>
          </a:solidFill>
          <a:ln/>
        </p:spPr>
      </p:sp>
      <p:pic>
        <p:nvPicPr>
          <p:cNvPr id="8" name="Paper row 2 icon" descr="preencoded.png">    </p:cNvPr>
          <p:cNvPicPr>
            <a:picLocks noChangeAspect="1"/>
          </p:cNvPicPr>
          <p:nvPr/>
        </p:nvPicPr>
        <p:blipFill>
          <a:blip r:embed="rId2"/>
          <a:stretch>
            <a:fillRect/>
          </a:stretch>
        </p:blipFill>
        <p:spPr>
          <a:xfrm>
            <a:off x="720090" y="2777490"/>
            <a:ext cx="342900" cy="342900"/>
          </a:xfrm>
          <a:prstGeom prst="rect">
            <a:avLst/>
          </a:prstGeom>
        </p:spPr>
      </p:pic>
      <p:sp>
        <p:nvSpPr>
          <p:cNvPr id="9" name="Text 5"/>
          <p:cNvSpPr txBox="1"/>
          <p:nvPr/>
        </p:nvSpPr>
        <p:spPr>
          <a:xfrm>
            <a:off x="1463040" y="2587752"/>
            <a:ext cx="5120640" cy="365760"/>
          </a:xfrm>
          <a:prstGeom prst="rect">
            <a:avLst/>
          </a:prstGeom>
          <a:noFill/>
          <a:ln/>
        </p:spPr>
        <p:txBody>
          <a:bodyPr wrap="square" lIns="0" tIns="0" rIns="0" bIns="0" rtlCol="0" anchor="ctr"/>
          <a:lstStyle/>
          <a:p>
            <a:pPr indent="0" marL="0">
              <a:buNone/>
            </a:pPr>
            <a:r>
              <a:rPr lang="en-US" sz="1800" b="1" dirty="0">
                <a:solidFill>
                  <a:schemeClr val="tx2"/>
                </a:solidFill>
              </a:rPr>
              <a:t>Four models compared</a:t>
            </a:r>
            <a:endParaRPr lang="en-US" sz="1800" dirty="0"/>
          </a:p>
        </p:txBody>
      </p:sp>
      <p:sp>
        <p:nvSpPr>
          <p:cNvPr id="10" name="Text 6"/>
          <p:cNvSpPr txBox="1"/>
          <p:nvPr/>
        </p:nvSpPr>
        <p:spPr>
          <a:xfrm>
            <a:off x="1463040" y="2971800"/>
            <a:ext cx="5120640" cy="594360"/>
          </a:xfrm>
          <a:prstGeom prst="rect">
            <a:avLst/>
          </a:prstGeom>
          <a:noFill/>
          <a:ln/>
        </p:spPr>
        <p:txBody>
          <a:bodyPr wrap="square" lIns="0" tIns="0" rIns="0" bIns="0" rtlCol="0" anchor="t"/>
          <a:lstStyle/>
          <a:p>
            <a:pPr indent="0" marL="0">
              <a:buNone/>
            </a:pPr>
            <a:r>
              <a:rPr lang="en-US" sz="1400" dirty="0">
                <a:solidFill>
                  <a:schemeClr val="tx1"/>
                </a:solidFill>
              </a:rPr>
              <a:t>Elastic Net, Decision Tree, XGBoost, LightGBM; Elastic Net won at every horizon</a:t>
            </a:r>
            <a:endParaRPr lang="en-US" sz="1400" dirty="0"/>
          </a:p>
        </p:txBody>
      </p:sp>
      <p:sp>
        <p:nvSpPr>
          <p:cNvPr id="11" name="Paper row 3 circle"/>
          <p:cNvSpPr/>
          <p:nvPr/>
        </p:nvSpPr>
        <p:spPr>
          <a:xfrm>
            <a:off x="548640" y="3794760"/>
            <a:ext cx="685800" cy="685800"/>
          </a:xfrm>
          <a:prstGeom prst="ellipse">
            <a:avLst/>
          </a:prstGeom>
          <a:solidFill>
            <a:schemeClr val="tx2"/>
          </a:solidFill>
          <a:ln/>
        </p:spPr>
      </p:sp>
      <p:pic>
        <p:nvPicPr>
          <p:cNvPr id="12" name="Paper row 3 icon" descr="preencoded.png">    </p:cNvPr>
          <p:cNvPicPr>
            <a:picLocks noChangeAspect="1"/>
          </p:cNvPicPr>
          <p:nvPr/>
        </p:nvPicPr>
        <p:blipFill>
          <a:blip r:embed="rId3"/>
          <a:stretch>
            <a:fillRect/>
          </a:stretch>
        </p:blipFill>
        <p:spPr>
          <a:xfrm>
            <a:off x="720090" y="3966210"/>
            <a:ext cx="342900" cy="342900"/>
          </a:xfrm>
          <a:prstGeom prst="rect">
            <a:avLst/>
          </a:prstGeom>
        </p:spPr>
      </p:pic>
      <p:sp>
        <p:nvSpPr>
          <p:cNvPr id="13" name="Text 8"/>
          <p:cNvSpPr txBox="1"/>
          <p:nvPr/>
        </p:nvSpPr>
        <p:spPr>
          <a:xfrm>
            <a:off x="1463040" y="3776472"/>
            <a:ext cx="5120640" cy="365760"/>
          </a:xfrm>
          <a:prstGeom prst="rect">
            <a:avLst/>
          </a:prstGeom>
          <a:noFill/>
          <a:ln/>
        </p:spPr>
        <p:txBody>
          <a:bodyPr wrap="square" lIns="0" tIns="0" rIns="0" bIns="0" rtlCol="0" anchor="ctr"/>
          <a:lstStyle/>
          <a:p>
            <a:pPr indent="0" marL="0">
              <a:buNone/>
            </a:pPr>
            <a:r>
              <a:rPr lang="en-US" sz="1800" b="1" dirty="0">
                <a:solidFill>
                  <a:schemeClr val="tx2"/>
                </a:solidFill>
              </a:rPr>
              <a:t>Trading test</a:t>
            </a:r>
            <a:endParaRPr lang="en-US" sz="1800" dirty="0"/>
          </a:p>
        </p:txBody>
      </p:sp>
      <p:sp>
        <p:nvSpPr>
          <p:cNvPr id="14" name="Text 9"/>
          <p:cNvSpPr txBox="1"/>
          <p:nvPr/>
        </p:nvSpPr>
        <p:spPr>
          <a:xfrm>
            <a:off x="1463040" y="4160520"/>
            <a:ext cx="5120640" cy="594360"/>
          </a:xfrm>
          <a:prstGeom prst="rect">
            <a:avLst/>
          </a:prstGeom>
          <a:noFill/>
          <a:ln/>
        </p:spPr>
        <p:txBody>
          <a:bodyPr wrap="square" lIns="0" tIns="0" rIns="0" bIns="0" rtlCol="0" anchor="t"/>
          <a:lstStyle/>
          <a:p>
            <a:pPr indent="0" marL="0">
              <a:buNone/>
            </a:pPr>
            <a:r>
              <a:rPr lang="en-US" sz="1400" dirty="0">
                <a:solidFill>
                  <a:schemeClr val="tx1"/>
                </a:solidFill>
              </a:rPr>
              <a:t>Buy or short VW on the forecast; best setting made 21.49% vs 7.98% buy-and-hold</a:t>
            </a:r>
            <a:endParaRPr lang="en-US" sz="1400" dirty="0"/>
          </a:p>
        </p:txBody>
      </p:sp>
      <p:sp>
        <p:nvSpPr>
          <p:cNvPr id="15" name="Gaps card"/>
          <p:cNvSpPr/>
          <p:nvPr/>
        </p:nvSpPr>
        <p:spPr>
          <a:xfrm>
            <a:off x="7040880" y="1325880"/>
            <a:ext cx="4572000" cy="4023360"/>
          </a:xfrm>
          <a:prstGeom prst="roundRect">
            <a:avLst>
              <a:gd name="adj" fmla="val 2727"/>
            </a:avLst>
          </a:prstGeom>
          <a:solidFill>
            <a:schemeClr val="bg2"/>
          </a:solidFill>
          <a:ln/>
        </p:spPr>
      </p:sp>
      <p:sp>
        <p:nvSpPr>
          <p:cNvPr id="16" name="Text 11"/>
          <p:cNvSpPr txBox="1"/>
          <p:nvPr/>
        </p:nvSpPr>
        <p:spPr>
          <a:xfrm>
            <a:off x="7406640" y="1554480"/>
            <a:ext cx="3931920" cy="411480"/>
          </a:xfrm>
          <a:prstGeom prst="rect">
            <a:avLst/>
          </a:prstGeom>
          <a:noFill/>
          <a:ln/>
        </p:spPr>
        <p:txBody>
          <a:bodyPr wrap="square" lIns="0" tIns="0" rIns="0" bIns="0" rtlCol="0" anchor="ctr"/>
          <a:lstStyle/>
          <a:p>
            <a:pPr indent="0" marL="0">
              <a:buNone/>
            </a:pPr>
            <a:r>
              <a:rPr lang="en-US" sz="2000" b="1" dirty="0">
                <a:solidFill>
                  <a:schemeClr val="tx2"/>
                </a:solidFill>
              </a:rPr>
              <a:t>Gaps we address</a:t>
            </a:r>
            <a:endParaRPr lang="en-US" sz="2000" dirty="0"/>
          </a:p>
        </p:txBody>
      </p:sp>
      <p:sp>
        <p:nvSpPr>
          <p:cNvPr id="17" name="Gaps list"/>
          <p:cNvSpPr txBox="1"/>
          <p:nvPr/>
        </p:nvSpPr>
        <p:spPr>
          <a:xfrm>
            <a:off x="7406640" y="2103120"/>
            <a:ext cx="3931920" cy="3108960"/>
          </a:xfrm>
          <a:prstGeom prst="rect">
            <a:avLst/>
          </a:prstGeom>
          <a:noFill/>
          <a:ln/>
        </p:spPr>
        <p:txBody>
          <a:bodyPr wrap="square" lIns="0" tIns="0" rIns="0" bIns="0" rtlCol="0" anchor="t"/>
          <a:lstStyle/>
          <a:p>
            <a:pPr marL="203200" indent="-203200">
              <a:buSzPct val="100000"/>
              <a:buChar char="•"/>
            </a:pPr>
            <a:r>
              <a:rPr lang="en-US" sz="1500" b="1" dirty="0">
                <a:solidFill>
                  <a:schemeClr val="tx2"/>
                </a:solidFill>
              </a:rPr>
              <a:t>No baseline</a:t>
            </a:r>
            <a:pPr indent="0" marL="0">
              <a:spcAft>
                <a:spcPts val="900"/>
              </a:spcAft>
              <a:buNone/>
            </a:pPr>
            <a:r>
              <a:rPr lang="en-US" sz="1500" dirty="0">
                <a:solidFill>
                  <a:schemeClr val="tx1"/>
                </a:solidFill>
              </a:rPr>
              <a:t> — its own footnote: guessing 0 is almost as accurate</a:t>
            </a:r>
            <a:endParaRPr lang="en-US" sz="1500" dirty="0"/>
          </a:p>
          <a:p>
            <a:pPr marL="203200" indent="-203200">
              <a:buSzPct val="100000"/>
              <a:buChar char="•"/>
            </a:pPr>
            <a:r>
              <a:rPr lang="en-US" sz="1500" b="1" dirty="0">
                <a:solidFill>
                  <a:schemeClr val="tx2"/>
                </a:solidFill>
              </a:rPr>
              <a:t>Missing prices set to 0</a:t>
            </a:r>
            <a:pPr indent="0" marL="0">
              <a:spcAft>
                <a:spcPts val="900"/>
              </a:spcAft>
              <a:buNone/>
            </a:pPr>
            <a:r>
              <a:rPr lang="en-US" sz="1500" dirty="0">
                <a:solidFill>
                  <a:schemeClr val="tx1"/>
                </a:solidFill>
              </a:rPr>
              <a:t> — adds fake “flat” days</a:t>
            </a:r>
            <a:endParaRPr lang="en-US" sz="1500" dirty="0"/>
          </a:p>
          <a:p>
            <a:pPr marL="203200" indent="-203200">
              <a:buSzPct val="100000"/>
              <a:buChar char="•"/>
            </a:pPr>
            <a:r>
              <a:rPr lang="en-US" sz="1500" b="1" dirty="0">
                <a:solidFill>
                  <a:schemeClr val="tx2"/>
                </a:solidFill>
              </a:rPr>
              <a:t>No trading costs</a:t>
            </a:r>
            <a:pPr indent="0" marL="0">
              <a:spcAft>
                <a:spcPts val="900"/>
              </a:spcAft>
              <a:buNone/>
            </a:pPr>
            <a:r>
              <a:rPr lang="en-US" sz="1500" dirty="0">
                <a:solidFill>
                  <a:schemeClr val="tx1"/>
                </a:solidFill>
              </a:rPr>
              <a:t> — real trades cost money</a:t>
            </a:r>
            <a:endParaRPr lang="en-US" sz="1500" dirty="0"/>
          </a:p>
          <a:p>
            <a:pPr marL="203200" indent="-203200">
              <a:buSzPct val="100000"/>
              <a:buChar char="•"/>
            </a:pPr>
            <a:r>
              <a:rPr lang="en-US" sz="1500" b="1" dirty="0">
                <a:solidFill>
                  <a:schemeClr val="tx2"/>
                </a:solidFill>
              </a:rPr>
              <a:t>No risk measures</a:t>
            </a:r>
            <a:pPr indent="0" marL="0">
              <a:spcAft>
                <a:spcPts val="900"/>
              </a:spcAft>
              <a:buNone/>
            </a:pPr>
            <a:r>
              <a:rPr lang="en-US" sz="1500" dirty="0">
                <a:solidFill>
                  <a:schemeClr val="tx1"/>
                </a:solidFill>
              </a:rPr>
              <a:t> — how bad could it get?</a:t>
            </a:r>
            <a:endParaRPr lang="en-US" sz="1500" dirty="0"/>
          </a:p>
          <a:p>
            <a:pPr marL="203200" indent="-203200">
              <a:buSzPct val="100000"/>
              <a:buChar char="•"/>
            </a:pPr>
            <a:r>
              <a:rPr lang="en-US" sz="1500" b="1" dirty="0">
                <a:solidFill>
                  <a:schemeClr val="tx2"/>
                </a:solidFill>
              </a:rPr>
              <a:t>Best of 96 settings reported</a:t>
            </a:r>
            <a:pPr indent="0" marL="0">
              <a:spcAft>
                <a:spcPts val="900"/>
              </a:spcAft>
              <a:buNone/>
            </a:pPr>
            <a:r>
              <a:rPr lang="en-US" sz="1500" dirty="0">
                <a:solidFill>
                  <a:schemeClr val="tx1"/>
                </a:solidFill>
              </a:rPr>
              <a:t> — only 18 beat buy-and-hold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Problem and data</a:t>
            </a:r>
            <a:endParaRPr lang="en-US" sz="3600" dirty="0"/>
          </a:p>
        </p:txBody>
      </p:sp>
      <p:sp>
        <p:nvSpPr>
          <p:cNvPr id="3" name="Text 1"/>
          <p:cNvSpPr txBox="1"/>
          <p:nvPr/>
        </p:nvSpPr>
        <p:spPr>
          <a:xfrm>
            <a:off x="548640" y="1280160"/>
            <a:ext cx="11064240" cy="685800"/>
          </a:xfrm>
          <a:prstGeom prst="rect">
            <a:avLst/>
          </a:prstGeom>
          <a:noFill/>
          <a:ln/>
        </p:spPr>
        <p:txBody>
          <a:bodyPr wrap="square" lIns="0" tIns="0" rIns="0" bIns="0" rtlCol="0" anchor="t"/>
          <a:lstStyle/>
          <a:p>
            <a:pPr indent="0" marL="0">
              <a:buNone/>
            </a:pPr>
            <a:r>
              <a:rPr lang="en-US" sz="1600" b="1" dirty="0">
                <a:solidFill>
                  <a:schemeClr val="tx2"/>
                </a:solidFill>
              </a:rPr>
              <a:t>Question: </a:t>
            </a:r>
            <a:pPr indent="0" marL="0">
              <a:buNone/>
            </a:pPr>
            <a:r>
              <a:rPr lang="en-US" sz="1600" dirty="0">
                <a:solidFill>
                  <a:schemeClr val="tx1"/>
                </a:solidFill>
              </a:rPr>
              <a:t>do the last few days of supplier returns predict Maruti's return over the next 5 trading days better than guessing “no change”?</a:t>
            </a:r>
            <a:endParaRPr lang="en-US" sz="1600" dirty="0"/>
          </a:p>
        </p:txBody>
      </p:sp>
      <p:sp>
        <p:nvSpPr>
          <p:cNvPr id="4" name="Text 2"/>
          <p:cNvSpPr txBox="1"/>
          <p:nvPr/>
        </p:nvSpPr>
        <p:spPr>
          <a:xfrm>
            <a:off x="548640" y="2286000"/>
            <a:ext cx="182880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2,415</a:t>
            </a:r>
            <a:endParaRPr lang="en-US" sz="4400" dirty="0"/>
          </a:p>
        </p:txBody>
      </p:sp>
      <p:sp>
        <p:nvSpPr>
          <p:cNvPr id="5" name="Text 3"/>
          <p:cNvSpPr txBox="1"/>
          <p:nvPr/>
        </p:nvSpPr>
        <p:spPr>
          <a:xfrm>
            <a:off x="548640" y="3108960"/>
            <a:ext cx="1828800" cy="640080"/>
          </a:xfrm>
          <a:prstGeom prst="rect">
            <a:avLst/>
          </a:prstGeom>
          <a:noFill/>
          <a:ln/>
        </p:spPr>
        <p:txBody>
          <a:bodyPr wrap="square" lIns="0" tIns="0" rIns="0" bIns="0" rtlCol="0" anchor="t"/>
          <a:lstStyle/>
          <a:p>
            <a:pPr indent="0" marL="0">
              <a:buNone/>
            </a:pPr>
            <a:r>
              <a:rPr lang="en-US" sz="1300" dirty="0">
                <a:solidFill>
                  <a:schemeClr val="tx1"/>
                </a:solidFill>
              </a:rPr>
              <a:t>trading days</a:t>
            </a:r>
            <a:endParaRPr lang="en-US" sz="1300" dirty="0"/>
          </a:p>
          <a:p>
            <a:pPr indent="0" marL="0">
              <a:buNone/>
            </a:pPr>
            <a:r>
              <a:rPr lang="en-US" sz="1300" dirty="0">
                <a:solidFill>
                  <a:schemeClr val="tx1"/>
                </a:solidFill>
              </a:rPr>
              <a:t>Dec 2016 – Oct 2026</a:t>
            </a:r>
            <a:endParaRPr lang="en-US" sz="1300" dirty="0"/>
          </a:p>
        </p:txBody>
      </p:sp>
      <p:sp>
        <p:nvSpPr>
          <p:cNvPr id="6" name="Text 4"/>
          <p:cNvSpPr txBox="1"/>
          <p:nvPr/>
        </p:nvSpPr>
        <p:spPr>
          <a:xfrm>
            <a:off x="2468880" y="2286000"/>
            <a:ext cx="182880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10</a:t>
            </a:r>
            <a:endParaRPr lang="en-US" sz="4400" dirty="0"/>
          </a:p>
        </p:txBody>
      </p:sp>
      <p:sp>
        <p:nvSpPr>
          <p:cNvPr id="7" name="Text 5"/>
          <p:cNvSpPr txBox="1"/>
          <p:nvPr/>
        </p:nvSpPr>
        <p:spPr>
          <a:xfrm>
            <a:off x="2468880" y="3108960"/>
            <a:ext cx="1828800" cy="640080"/>
          </a:xfrm>
          <a:prstGeom prst="rect">
            <a:avLst/>
          </a:prstGeom>
          <a:noFill/>
          <a:ln/>
        </p:spPr>
        <p:txBody>
          <a:bodyPr wrap="square" lIns="0" tIns="0" rIns="0" bIns="0" rtlCol="0" anchor="t"/>
          <a:lstStyle/>
          <a:p>
            <a:pPr indent="0" marL="0">
              <a:buNone/>
            </a:pPr>
            <a:r>
              <a:rPr lang="en-US" sz="1300" dirty="0">
                <a:solidFill>
                  <a:schemeClr val="tx1"/>
                </a:solidFill>
              </a:rPr>
              <a:t>supplier &amp; market</a:t>
            </a:r>
            <a:endParaRPr lang="en-US" sz="1300" dirty="0"/>
          </a:p>
          <a:p>
            <a:pPr indent="0" marL="0">
              <a:buNone/>
            </a:pPr>
            <a:r>
              <a:rPr lang="en-US" sz="1300" dirty="0">
                <a:solidFill>
                  <a:schemeClr val="tx1"/>
                </a:solidFill>
              </a:rPr>
              <a:t>stocks</a:t>
            </a:r>
            <a:endParaRPr lang="en-US" sz="1300" dirty="0"/>
          </a:p>
        </p:txBody>
      </p:sp>
      <p:sp>
        <p:nvSpPr>
          <p:cNvPr id="8" name="Text 6"/>
          <p:cNvSpPr txBox="1"/>
          <p:nvPr/>
        </p:nvSpPr>
        <p:spPr>
          <a:xfrm>
            <a:off x="4389120" y="2286000"/>
            <a:ext cx="182880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61</a:t>
            </a:r>
            <a:endParaRPr lang="en-US" sz="4400" dirty="0"/>
          </a:p>
        </p:txBody>
      </p:sp>
      <p:sp>
        <p:nvSpPr>
          <p:cNvPr id="9" name="Text 7"/>
          <p:cNvSpPr txBox="1"/>
          <p:nvPr/>
        </p:nvSpPr>
        <p:spPr>
          <a:xfrm>
            <a:off x="4389120" y="3108960"/>
            <a:ext cx="1828800" cy="640080"/>
          </a:xfrm>
          <a:prstGeom prst="rect">
            <a:avLst/>
          </a:prstGeom>
          <a:noFill/>
          <a:ln/>
        </p:spPr>
        <p:txBody>
          <a:bodyPr wrap="square" lIns="0" tIns="0" rIns="0" bIns="0" rtlCol="0" anchor="t"/>
          <a:lstStyle/>
          <a:p>
            <a:pPr indent="0" marL="0">
              <a:buNone/>
            </a:pPr>
            <a:r>
              <a:rPr lang="en-US" sz="1300" dirty="0">
                <a:solidFill>
                  <a:schemeClr val="tx1"/>
                </a:solidFill>
              </a:rPr>
              <a:t>features</a:t>
            </a:r>
            <a:endParaRPr lang="en-US" sz="1300" dirty="0"/>
          </a:p>
          <a:p>
            <a:pPr indent="0" marL="0">
              <a:buNone/>
            </a:pPr>
            <a:r>
              <a:rPr lang="en-US" sz="1300" dirty="0">
                <a:solidFill>
                  <a:schemeClr val="tx1"/>
                </a:solidFill>
              </a:rPr>
              <a:t>per day</a:t>
            </a:r>
            <a:endParaRPr lang="en-US" sz="1300" dirty="0"/>
          </a:p>
        </p:txBody>
      </p:sp>
      <p:sp>
        <p:nvSpPr>
          <p:cNvPr id="10" name="Text 8"/>
          <p:cNvSpPr txBox="1"/>
          <p:nvPr/>
        </p:nvSpPr>
        <p:spPr>
          <a:xfrm>
            <a:off x="548640" y="4069080"/>
            <a:ext cx="5486400" cy="548640"/>
          </a:xfrm>
          <a:prstGeom prst="rect">
            <a:avLst/>
          </a:prstGeom>
          <a:noFill/>
          <a:ln/>
        </p:spPr>
        <p:txBody>
          <a:bodyPr wrap="square" lIns="0" tIns="0" rIns="0" bIns="0" rtlCol="0" anchor="t"/>
          <a:lstStyle/>
          <a:p>
            <a:pPr indent="0" marL="0">
              <a:buNone/>
            </a:pPr>
            <a:r>
              <a:rPr lang="en-US" sz="1300" dirty="0">
                <a:solidFill>
                  <a:schemeClr val="tx1"/>
                </a:solidFill>
              </a:rPr>
              <a:t>Source: Yahoo Finance via yfinance, daily prices adjusted for splits and dividends.</a:t>
            </a:r>
            <a:endParaRPr lang="en-US" sz="1300" dirty="0"/>
          </a:p>
        </p:txBody>
      </p:sp>
      <p:sp>
        <p:nvSpPr>
          <p:cNvPr id="11" name="Text 9"/>
          <p:cNvSpPr txBox="1"/>
          <p:nvPr/>
        </p:nvSpPr>
        <p:spPr>
          <a:xfrm>
            <a:off x="548640" y="4663440"/>
            <a:ext cx="5486400" cy="822960"/>
          </a:xfrm>
          <a:prstGeom prst="rect">
            <a:avLst/>
          </a:prstGeom>
          <a:noFill/>
          <a:ln/>
        </p:spPr>
        <p:txBody>
          <a:bodyPr wrap="square" lIns="0" tIns="0" rIns="0" bIns="0" rtlCol="0" anchor="t"/>
          <a:lstStyle/>
          <a:p>
            <a:pPr indent="0" marL="0">
              <a:buNone/>
            </a:pPr>
            <a:r>
              <a:rPr lang="en-US" sz="1300" dirty="0">
                <a:solidFill>
                  <a:schemeClr val="tx1"/>
                </a:solidFill>
              </a:rPr>
              <a:t>Peers with too little history would be dropped (≥ 90% coverage needed); short holiday gaps filled from past prices only. Nothing filled with zero.</a:t>
            </a:r>
            <a:endParaRPr lang="en-US" sz="1300" dirty="0"/>
          </a:p>
        </p:txBody>
      </p:sp>
      <p:sp>
        <p:nvSpPr>
          <p:cNvPr id="12" name="Ticker map"/>
          <p:cNvSpPr/>
          <p:nvPr/>
        </p:nvSpPr>
        <p:spPr>
          <a:xfrm>
            <a:off x="6492240" y="2194560"/>
            <a:ext cx="5120640" cy="3840480"/>
          </a:xfrm>
          <a:prstGeom prst="roundRect">
            <a:avLst>
              <a:gd name="adj" fmla="val 2857"/>
            </a:avLst>
          </a:prstGeom>
          <a:solidFill>
            <a:schemeClr val="bg2"/>
          </a:solidFill>
          <a:ln/>
        </p:spPr>
      </p:sp>
      <p:sp>
        <p:nvSpPr>
          <p:cNvPr id="13" name="Target circle"/>
          <p:cNvSpPr/>
          <p:nvPr/>
        </p:nvSpPr>
        <p:spPr>
          <a:xfrm>
            <a:off x="8549640" y="2377440"/>
            <a:ext cx="685800" cy="685800"/>
          </a:xfrm>
          <a:prstGeom prst="ellipse">
            <a:avLst/>
          </a:prstGeom>
          <a:solidFill>
            <a:schemeClr val="accent1"/>
          </a:solidFill>
          <a:ln/>
        </p:spPr>
      </p:sp>
      <p:pic>
        <p:nvPicPr>
          <p:cNvPr id="14" name="Target icon" descr="preencoded.png">    </p:cNvPr>
          <p:cNvPicPr>
            <a:picLocks noChangeAspect="1"/>
          </p:cNvPicPr>
          <p:nvPr/>
        </p:nvPicPr>
        <p:blipFill>
          <a:blip r:embed="rId1"/>
          <a:stretch>
            <a:fillRect/>
          </a:stretch>
        </p:blipFill>
        <p:spPr>
          <a:xfrm>
            <a:off x="8721090" y="2548890"/>
            <a:ext cx="342900" cy="342900"/>
          </a:xfrm>
          <a:prstGeom prst="rect">
            <a:avLst/>
          </a:prstGeom>
        </p:spPr>
      </p:pic>
      <p:sp>
        <p:nvSpPr>
          <p:cNvPr id="15" name="Text 12"/>
          <p:cNvSpPr txBox="1"/>
          <p:nvPr/>
        </p:nvSpPr>
        <p:spPr>
          <a:xfrm>
            <a:off x="6675120" y="3127248"/>
            <a:ext cx="4754880" cy="320040"/>
          </a:xfrm>
          <a:prstGeom prst="rect">
            <a:avLst/>
          </a:prstGeom>
          <a:noFill/>
          <a:ln/>
        </p:spPr>
        <p:txBody>
          <a:bodyPr wrap="square" lIns="0" tIns="0" rIns="0" bIns="0" rtlCol="0" anchor="ctr"/>
          <a:lstStyle/>
          <a:p>
            <a:pPr algn="ctr" indent="0" marL="0">
              <a:buNone/>
            </a:pPr>
            <a:r>
              <a:rPr lang="en-US" sz="1400" b="1" dirty="0">
                <a:solidFill>
                  <a:schemeClr val="tx2"/>
                </a:solidFill>
              </a:rPr>
              <a:t>MARUTI.NS  (target)</a:t>
            </a:r>
            <a:endParaRPr lang="en-US" sz="1400" dirty="0"/>
          </a:p>
        </p:txBody>
      </p:sp>
      <p:sp>
        <p:nvSpPr>
          <p:cNvPr id="16" name="Text 13"/>
          <p:cNvSpPr txBox="1"/>
          <p:nvPr/>
        </p:nvSpPr>
        <p:spPr>
          <a:xfrm>
            <a:off x="6720840" y="3611880"/>
            <a:ext cx="1463040" cy="502920"/>
          </a:xfrm>
          <a:prstGeom prst="rect">
            <a:avLst/>
          </a:prstGeom>
          <a:noFill/>
          <a:ln/>
        </p:spPr>
        <p:txBody>
          <a:bodyPr wrap="square" lIns="0" tIns="0" rIns="0" bIns="0" rtlCol="0" anchor="ctr"/>
          <a:lstStyle/>
          <a:p>
            <a:pPr indent="0" marL="0">
              <a:buNone/>
            </a:pPr>
            <a:r>
              <a:rPr lang="en-US" sz="1200" b="1" dirty="0">
                <a:solidFill>
                  <a:schemeClr val="tx2"/>
                </a:solidFill>
              </a:rPr>
              <a:t>Auto components</a:t>
            </a:r>
            <a:endParaRPr lang="en-US" sz="1200" dirty="0"/>
          </a:p>
        </p:txBody>
      </p:sp>
      <p:sp>
        <p:nvSpPr>
          <p:cNvPr id="17" name="Chip MOTHERSON"/>
          <p:cNvSpPr/>
          <p:nvPr/>
        </p:nvSpPr>
        <p:spPr>
          <a:xfrm>
            <a:off x="8229600" y="3675888"/>
            <a:ext cx="786384" cy="384048"/>
          </a:xfrm>
          <a:prstGeom prst="roundRect">
            <a:avLst>
              <a:gd name="adj" fmla="val 19048"/>
            </a:avLst>
          </a:prstGeom>
          <a:solidFill>
            <a:schemeClr val="tx2"/>
          </a:solidFill>
          <a:ln/>
        </p:spPr>
      </p:sp>
      <p:sp>
        <p:nvSpPr>
          <p:cNvPr id="18" name="Text 15"/>
          <p:cNvSpPr txBox="1"/>
          <p:nvPr/>
        </p:nvSpPr>
        <p:spPr>
          <a:xfrm>
            <a:off x="8229600" y="367588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MOTHERSON</a:t>
            </a:r>
            <a:endParaRPr lang="en-US" sz="800" dirty="0"/>
          </a:p>
        </p:txBody>
      </p:sp>
      <p:sp>
        <p:nvSpPr>
          <p:cNvPr id="19" name="Chip BOSCHLTD"/>
          <p:cNvSpPr/>
          <p:nvPr/>
        </p:nvSpPr>
        <p:spPr>
          <a:xfrm>
            <a:off x="9070848" y="3675888"/>
            <a:ext cx="786384" cy="384048"/>
          </a:xfrm>
          <a:prstGeom prst="roundRect">
            <a:avLst>
              <a:gd name="adj" fmla="val 19048"/>
            </a:avLst>
          </a:prstGeom>
          <a:solidFill>
            <a:schemeClr val="tx2"/>
          </a:solidFill>
          <a:ln/>
        </p:spPr>
      </p:sp>
      <p:sp>
        <p:nvSpPr>
          <p:cNvPr id="20" name="Text 17"/>
          <p:cNvSpPr txBox="1"/>
          <p:nvPr/>
        </p:nvSpPr>
        <p:spPr>
          <a:xfrm>
            <a:off x="9070848" y="367588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BOSCHLTD</a:t>
            </a:r>
            <a:endParaRPr lang="en-US" sz="800" dirty="0"/>
          </a:p>
        </p:txBody>
      </p:sp>
      <p:sp>
        <p:nvSpPr>
          <p:cNvPr id="21" name="Chip UNOMINDA"/>
          <p:cNvSpPr/>
          <p:nvPr/>
        </p:nvSpPr>
        <p:spPr>
          <a:xfrm>
            <a:off x="9912096" y="3675888"/>
            <a:ext cx="786384" cy="384048"/>
          </a:xfrm>
          <a:prstGeom prst="roundRect">
            <a:avLst>
              <a:gd name="adj" fmla="val 19048"/>
            </a:avLst>
          </a:prstGeom>
          <a:solidFill>
            <a:schemeClr val="tx2"/>
          </a:solidFill>
          <a:ln/>
        </p:spPr>
      </p:sp>
      <p:sp>
        <p:nvSpPr>
          <p:cNvPr id="22" name="Text 19"/>
          <p:cNvSpPr txBox="1"/>
          <p:nvPr/>
        </p:nvSpPr>
        <p:spPr>
          <a:xfrm>
            <a:off x="9912096" y="367588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UNOMINDA</a:t>
            </a:r>
            <a:endParaRPr lang="en-US" sz="800" dirty="0"/>
          </a:p>
        </p:txBody>
      </p:sp>
      <p:sp>
        <p:nvSpPr>
          <p:cNvPr id="23" name="Chip ENDURANCE"/>
          <p:cNvSpPr/>
          <p:nvPr/>
        </p:nvSpPr>
        <p:spPr>
          <a:xfrm>
            <a:off x="10753344" y="3675888"/>
            <a:ext cx="786384" cy="384048"/>
          </a:xfrm>
          <a:prstGeom prst="roundRect">
            <a:avLst>
              <a:gd name="adj" fmla="val 19048"/>
            </a:avLst>
          </a:prstGeom>
          <a:solidFill>
            <a:schemeClr val="tx2"/>
          </a:solidFill>
          <a:ln/>
        </p:spPr>
      </p:sp>
      <p:sp>
        <p:nvSpPr>
          <p:cNvPr id="24" name="Text 21"/>
          <p:cNvSpPr txBox="1"/>
          <p:nvPr/>
        </p:nvSpPr>
        <p:spPr>
          <a:xfrm>
            <a:off x="10753344" y="367588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ENDURANCE</a:t>
            </a:r>
            <a:endParaRPr lang="en-US" sz="800" dirty="0"/>
          </a:p>
        </p:txBody>
      </p:sp>
      <p:sp>
        <p:nvSpPr>
          <p:cNvPr id="25" name="Text 22"/>
          <p:cNvSpPr txBox="1"/>
          <p:nvPr/>
        </p:nvSpPr>
        <p:spPr>
          <a:xfrm>
            <a:off x="6720840" y="4389120"/>
            <a:ext cx="1463040" cy="502920"/>
          </a:xfrm>
          <a:prstGeom prst="rect">
            <a:avLst/>
          </a:prstGeom>
          <a:noFill/>
          <a:ln/>
        </p:spPr>
        <p:txBody>
          <a:bodyPr wrap="square" lIns="0" tIns="0" rIns="0" bIns="0" rtlCol="0" anchor="ctr"/>
          <a:lstStyle/>
          <a:p>
            <a:pPr indent="0" marL="0">
              <a:buNone/>
            </a:pPr>
            <a:r>
              <a:rPr lang="en-US" sz="1200" b="1" dirty="0">
                <a:solidFill>
                  <a:schemeClr val="tx2"/>
                </a:solidFill>
              </a:rPr>
              <a:t>Tyres &amp; batteries</a:t>
            </a:r>
            <a:endParaRPr lang="en-US" sz="1200" dirty="0"/>
          </a:p>
        </p:txBody>
      </p:sp>
      <p:sp>
        <p:nvSpPr>
          <p:cNvPr id="26" name="Chip MRF"/>
          <p:cNvSpPr/>
          <p:nvPr/>
        </p:nvSpPr>
        <p:spPr>
          <a:xfrm>
            <a:off x="8229600" y="4453128"/>
            <a:ext cx="786384" cy="384048"/>
          </a:xfrm>
          <a:prstGeom prst="roundRect">
            <a:avLst>
              <a:gd name="adj" fmla="val 19048"/>
            </a:avLst>
          </a:prstGeom>
          <a:solidFill>
            <a:schemeClr val="accent5"/>
          </a:solidFill>
          <a:ln/>
        </p:spPr>
      </p:sp>
      <p:sp>
        <p:nvSpPr>
          <p:cNvPr id="27" name="Text 24"/>
          <p:cNvSpPr txBox="1"/>
          <p:nvPr/>
        </p:nvSpPr>
        <p:spPr>
          <a:xfrm>
            <a:off x="8229600" y="445312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MRF</a:t>
            </a:r>
            <a:endParaRPr lang="en-US" sz="800" dirty="0"/>
          </a:p>
        </p:txBody>
      </p:sp>
      <p:sp>
        <p:nvSpPr>
          <p:cNvPr id="28" name="Chip APOLLOTYRE"/>
          <p:cNvSpPr/>
          <p:nvPr/>
        </p:nvSpPr>
        <p:spPr>
          <a:xfrm>
            <a:off x="9070848" y="4453128"/>
            <a:ext cx="786384" cy="384048"/>
          </a:xfrm>
          <a:prstGeom prst="roundRect">
            <a:avLst>
              <a:gd name="adj" fmla="val 19048"/>
            </a:avLst>
          </a:prstGeom>
          <a:solidFill>
            <a:schemeClr val="accent5"/>
          </a:solidFill>
          <a:ln/>
        </p:spPr>
      </p:sp>
      <p:sp>
        <p:nvSpPr>
          <p:cNvPr id="29" name="Text 26"/>
          <p:cNvSpPr txBox="1"/>
          <p:nvPr/>
        </p:nvSpPr>
        <p:spPr>
          <a:xfrm>
            <a:off x="9070848" y="445312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APOLLOTYRE</a:t>
            </a:r>
            <a:endParaRPr lang="en-US" sz="800" dirty="0"/>
          </a:p>
        </p:txBody>
      </p:sp>
      <p:sp>
        <p:nvSpPr>
          <p:cNvPr id="30" name="Chip EXIDEIND"/>
          <p:cNvSpPr/>
          <p:nvPr/>
        </p:nvSpPr>
        <p:spPr>
          <a:xfrm>
            <a:off x="9912096" y="4453128"/>
            <a:ext cx="786384" cy="384048"/>
          </a:xfrm>
          <a:prstGeom prst="roundRect">
            <a:avLst>
              <a:gd name="adj" fmla="val 19048"/>
            </a:avLst>
          </a:prstGeom>
          <a:solidFill>
            <a:schemeClr val="accent5"/>
          </a:solidFill>
          <a:ln/>
        </p:spPr>
      </p:sp>
      <p:sp>
        <p:nvSpPr>
          <p:cNvPr id="31" name="Text 28"/>
          <p:cNvSpPr txBox="1"/>
          <p:nvPr/>
        </p:nvSpPr>
        <p:spPr>
          <a:xfrm>
            <a:off x="9912096" y="445312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EXIDEIND</a:t>
            </a:r>
            <a:endParaRPr lang="en-US" sz="800" dirty="0"/>
          </a:p>
        </p:txBody>
      </p:sp>
      <p:sp>
        <p:nvSpPr>
          <p:cNvPr id="32" name="Text 29"/>
          <p:cNvSpPr txBox="1"/>
          <p:nvPr/>
        </p:nvSpPr>
        <p:spPr>
          <a:xfrm>
            <a:off x="6720840" y="5166360"/>
            <a:ext cx="1463040" cy="502920"/>
          </a:xfrm>
          <a:prstGeom prst="rect">
            <a:avLst/>
          </a:prstGeom>
          <a:noFill/>
          <a:ln/>
        </p:spPr>
        <p:txBody>
          <a:bodyPr wrap="square" lIns="0" tIns="0" rIns="0" bIns="0" rtlCol="0" anchor="ctr"/>
          <a:lstStyle/>
          <a:p>
            <a:pPr indent="0" marL="0">
              <a:buNone/>
            </a:pPr>
            <a:r>
              <a:rPr lang="en-US" sz="1200" b="1" dirty="0">
                <a:solidFill>
                  <a:schemeClr val="tx2"/>
                </a:solidFill>
              </a:rPr>
              <a:t>Steel &amp; market</a:t>
            </a:r>
            <a:endParaRPr lang="en-US" sz="1200" dirty="0"/>
          </a:p>
        </p:txBody>
      </p:sp>
      <p:sp>
        <p:nvSpPr>
          <p:cNvPr id="33" name="Chip TATASTEEL"/>
          <p:cNvSpPr/>
          <p:nvPr/>
        </p:nvSpPr>
        <p:spPr>
          <a:xfrm>
            <a:off x="8229600" y="5230368"/>
            <a:ext cx="786384" cy="384048"/>
          </a:xfrm>
          <a:prstGeom prst="roundRect">
            <a:avLst>
              <a:gd name="adj" fmla="val 19048"/>
            </a:avLst>
          </a:prstGeom>
          <a:solidFill>
            <a:schemeClr val="accent2"/>
          </a:solidFill>
          <a:ln/>
        </p:spPr>
      </p:sp>
      <p:sp>
        <p:nvSpPr>
          <p:cNvPr id="34" name="Text 31"/>
          <p:cNvSpPr txBox="1"/>
          <p:nvPr/>
        </p:nvSpPr>
        <p:spPr>
          <a:xfrm>
            <a:off x="8229600" y="523036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TATASTEEL</a:t>
            </a:r>
            <a:endParaRPr lang="en-US" sz="800" dirty="0"/>
          </a:p>
        </p:txBody>
      </p:sp>
      <p:sp>
        <p:nvSpPr>
          <p:cNvPr id="35" name="Chip JSWSTEEL"/>
          <p:cNvSpPr/>
          <p:nvPr/>
        </p:nvSpPr>
        <p:spPr>
          <a:xfrm>
            <a:off x="9070848" y="5230368"/>
            <a:ext cx="786384" cy="384048"/>
          </a:xfrm>
          <a:prstGeom prst="roundRect">
            <a:avLst>
              <a:gd name="adj" fmla="val 19048"/>
            </a:avLst>
          </a:prstGeom>
          <a:solidFill>
            <a:schemeClr val="accent2"/>
          </a:solidFill>
          <a:ln/>
        </p:spPr>
      </p:sp>
      <p:sp>
        <p:nvSpPr>
          <p:cNvPr id="36" name="Text 33"/>
          <p:cNvSpPr txBox="1"/>
          <p:nvPr/>
        </p:nvSpPr>
        <p:spPr>
          <a:xfrm>
            <a:off x="9070848" y="523036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JSWSTEEL</a:t>
            </a:r>
            <a:endParaRPr lang="en-US" sz="800" dirty="0"/>
          </a:p>
        </p:txBody>
      </p:sp>
      <p:sp>
        <p:nvSpPr>
          <p:cNvPr id="37" name="Chip NIFTY 50"/>
          <p:cNvSpPr/>
          <p:nvPr/>
        </p:nvSpPr>
        <p:spPr>
          <a:xfrm>
            <a:off x="9912096" y="5230368"/>
            <a:ext cx="786384" cy="384048"/>
          </a:xfrm>
          <a:prstGeom prst="roundRect">
            <a:avLst>
              <a:gd name="adj" fmla="val 19048"/>
            </a:avLst>
          </a:prstGeom>
          <a:solidFill>
            <a:schemeClr val="accent2"/>
          </a:solidFill>
          <a:ln/>
        </p:spPr>
      </p:sp>
      <p:sp>
        <p:nvSpPr>
          <p:cNvPr id="38" name="Text 35"/>
          <p:cNvSpPr txBox="1"/>
          <p:nvPr/>
        </p:nvSpPr>
        <p:spPr>
          <a:xfrm>
            <a:off x="9912096" y="5230368"/>
            <a:ext cx="786384" cy="384048"/>
          </a:xfrm>
          <a:prstGeom prst="rect">
            <a:avLst/>
          </a:prstGeom>
          <a:noFill/>
          <a:ln/>
        </p:spPr>
        <p:txBody>
          <a:bodyPr wrap="square" lIns="0" tIns="0" rIns="0" bIns="0" rtlCol="0" anchor="ctr">
            <a:normAutofit/>
          </a:bodyPr>
          <a:lstStyle/>
          <a:p>
            <a:pPr algn="ctr" indent="0" marL="0">
              <a:buNone/>
            </a:pPr>
            <a:r>
              <a:rPr lang="en-US" sz="800" b="1" dirty="0">
                <a:solidFill>
                  <a:schemeClr val="bg1"/>
                </a:solidFill>
              </a:rPr>
              <a:t>NIFTY 50</a:t>
            </a:r>
            <a:endParaRPr lang="en-US" sz="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the pipeline works</a:t>
            </a:r>
            <a:endParaRPr lang="en-US" sz="3600" dirty="0"/>
          </a:p>
        </p:txBody>
      </p:sp>
      <p:sp>
        <p:nvSpPr>
          <p:cNvPr id="3" name="Step 1"/>
          <p:cNvSpPr/>
          <p:nvPr/>
        </p:nvSpPr>
        <p:spPr>
          <a:xfrm>
            <a:off x="548640" y="1737360"/>
            <a:ext cx="1737360" cy="2926080"/>
          </a:xfrm>
          <a:prstGeom prst="roundRect">
            <a:avLst>
              <a:gd name="adj" fmla="val 6316"/>
            </a:avLst>
          </a:prstGeom>
          <a:solidFill>
            <a:schemeClr val="bg2"/>
          </a:solidFill>
          <a:ln/>
        </p:spPr>
      </p:sp>
      <p:sp>
        <p:nvSpPr>
          <p:cNvPr id="4" name="Step 1 circle"/>
          <p:cNvSpPr/>
          <p:nvPr/>
        </p:nvSpPr>
        <p:spPr>
          <a:xfrm>
            <a:off x="1051560" y="1965960"/>
            <a:ext cx="731520" cy="731520"/>
          </a:xfrm>
          <a:prstGeom prst="ellipse">
            <a:avLst/>
          </a:prstGeom>
          <a:solidFill>
            <a:schemeClr val="tx2"/>
          </a:solidFill>
          <a:ln/>
        </p:spPr>
      </p:sp>
      <p:pic>
        <p:nvPicPr>
          <p:cNvPr id="5" name="Step 1 icon" descr="preencoded.png">    </p:cNvPr>
          <p:cNvPicPr>
            <a:picLocks noChangeAspect="1"/>
          </p:cNvPicPr>
          <p:nvPr/>
        </p:nvPicPr>
        <p:blipFill>
          <a:blip r:embed="rId1"/>
          <a:stretch>
            <a:fillRect/>
          </a:stretch>
        </p:blipFill>
        <p:spPr>
          <a:xfrm>
            <a:off x="1234440" y="2148840"/>
            <a:ext cx="365760" cy="365760"/>
          </a:xfrm>
          <a:prstGeom prst="rect">
            <a:avLst/>
          </a:prstGeom>
        </p:spPr>
      </p:pic>
      <p:sp>
        <p:nvSpPr>
          <p:cNvPr id="6" name="Text 3"/>
          <p:cNvSpPr txBox="1"/>
          <p:nvPr/>
        </p:nvSpPr>
        <p:spPr>
          <a:xfrm>
            <a:off x="685800" y="1828800"/>
            <a:ext cx="365760" cy="320040"/>
          </a:xfrm>
          <a:prstGeom prst="rect">
            <a:avLst/>
          </a:prstGeom>
          <a:noFill/>
          <a:ln/>
        </p:spPr>
        <p:txBody>
          <a:bodyPr wrap="square" lIns="0" tIns="0" rIns="0" bIns="0" rtlCol="0" anchor="ctr"/>
          <a:lstStyle/>
          <a:p>
            <a:pPr indent="0" marL="0">
              <a:buNone/>
            </a:pPr>
            <a:r>
              <a:rPr lang="en-US" sz="1200" b="1" dirty="0">
                <a:solidFill>
                  <a:schemeClr val="accent3"/>
                </a:solidFill>
              </a:rPr>
              <a:t>1</a:t>
            </a:r>
            <a:endParaRPr lang="en-US" sz="1200" dirty="0"/>
          </a:p>
        </p:txBody>
      </p:sp>
      <p:sp>
        <p:nvSpPr>
          <p:cNvPr id="7" name="Text 4"/>
          <p:cNvSpPr txBox="1"/>
          <p:nvPr/>
        </p:nvSpPr>
        <p:spPr>
          <a:xfrm>
            <a:off x="658368" y="2880360"/>
            <a:ext cx="1517904" cy="411480"/>
          </a:xfrm>
          <a:prstGeom prst="rect">
            <a:avLst/>
          </a:prstGeom>
          <a:noFill/>
          <a:ln/>
        </p:spPr>
        <p:txBody>
          <a:bodyPr wrap="square" lIns="0" tIns="0" rIns="0" bIns="0" rtlCol="0" anchor="ctr"/>
          <a:lstStyle/>
          <a:p>
            <a:pPr algn="ctr" indent="0" marL="0">
              <a:buNone/>
            </a:pPr>
            <a:r>
              <a:rPr lang="en-US" sz="1600" b="1" dirty="0">
                <a:solidFill>
                  <a:schemeClr val="tx2"/>
                </a:solidFill>
              </a:rPr>
              <a:t>Download</a:t>
            </a:r>
            <a:endParaRPr lang="en-US" sz="1600" dirty="0"/>
          </a:p>
        </p:txBody>
      </p:sp>
      <p:sp>
        <p:nvSpPr>
          <p:cNvPr id="8" name="Text 5"/>
          <p:cNvSpPr txBox="1"/>
          <p:nvPr/>
        </p:nvSpPr>
        <p:spPr>
          <a:xfrm>
            <a:off x="685800" y="333756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Maruti + 10 peers from Yahoo Finance</a:t>
            </a:r>
            <a:endParaRPr lang="en-US" sz="1300" dirty="0"/>
          </a:p>
        </p:txBody>
      </p:sp>
      <p:sp>
        <p:nvSpPr>
          <p:cNvPr id="9" name="Step 2"/>
          <p:cNvSpPr/>
          <p:nvPr/>
        </p:nvSpPr>
        <p:spPr>
          <a:xfrm>
            <a:off x="2414016" y="1737360"/>
            <a:ext cx="1737360" cy="2926080"/>
          </a:xfrm>
          <a:prstGeom prst="roundRect">
            <a:avLst>
              <a:gd name="adj" fmla="val 6316"/>
            </a:avLst>
          </a:prstGeom>
          <a:solidFill>
            <a:schemeClr val="bg2"/>
          </a:solidFill>
          <a:ln/>
        </p:spPr>
      </p:sp>
      <p:sp>
        <p:nvSpPr>
          <p:cNvPr id="10" name="Step 2 circle"/>
          <p:cNvSpPr/>
          <p:nvPr/>
        </p:nvSpPr>
        <p:spPr>
          <a:xfrm>
            <a:off x="2916936" y="1965960"/>
            <a:ext cx="731520" cy="731520"/>
          </a:xfrm>
          <a:prstGeom prst="ellipse">
            <a:avLst/>
          </a:prstGeom>
          <a:solidFill>
            <a:schemeClr val="tx2"/>
          </a:solidFill>
          <a:ln/>
        </p:spPr>
      </p:sp>
      <p:pic>
        <p:nvPicPr>
          <p:cNvPr id="11" name="Step 2 icon" descr="preencoded.png">    </p:cNvPr>
          <p:cNvPicPr>
            <a:picLocks noChangeAspect="1"/>
          </p:cNvPicPr>
          <p:nvPr/>
        </p:nvPicPr>
        <p:blipFill>
          <a:blip r:embed="rId2"/>
          <a:stretch>
            <a:fillRect/>
          </a:stretch>
        </p:blipFill>
        <p:spPr>
          <a:xfrm>
            <a:off x="3099816" y="2148840"/>
            <a:ext cx="365760" cy="365760"/>
          </a:xfrm>
          <a:prstGeom prst="rect">
            <a:avLst/>
          </a:prstGeom>
        </p:spPr>
      </p:pic>
      <p:sp>
        <p:nvSpPr>
          <p:cNvPr id="12" name="Text 8"/>
          <p:cNvSpPr txBox="1"/>
          <p:nvPr/>
        </p:nvSpPr>
        <p:spPr>
          <a:xfrm>
            <a:off x="2551176" y="1828800"/>
            <a:ext cx="365760" cy="320040"/>
          </a:xfrm>
          <a:prstGeom prst="rect">
            <a:avLst/>
          </a:prstGeom>
          <a:noFill/>
          <a:ln/>
        </p:spPr>
        <p:txBody>
          <a:bodyPr wrap="square" lIns="0" tIns="0" rIns="0" bIns="0" rtlCol="0" anchor="ctr"/>
          <a:lstStyle/>
          <a:p>
            <a:pPr indent="0" marL="0">
              <a:buNone/>
            </a:pPr>
            <a:r>
              <a:rPr lang="en-US" sz="1200" b="1" dirty="0">
                <a:solidFill>
                  <a:schemeClr val="accent3"/>
                </a:solidFill>
              </a:rPr>
              <a:t>2</a:t>
            </a:r>
            <a:endParaRPr lang="en-US" sz="1200" dirty="0"/>
          </a:p>
        </p:txBody>
      </p:sp>
      <p:sp>
        <p:nvSpPr>
          <p:cNvPr id="13" name="Text 9"/>
          <p:cNvSpPr txBox="1"/>
          <p:nvPr/>
        </p:nvSpPr>
        <p:spPr>
          <a:xfrm>
            <a:off x="2523744" y="2880360"/>
            <a:ext cx="1517904" cy="411480"/>
          </a:xfrm>
          <a:prstGeom prst="rect">
            <a:avLst/>
          </a:prstGeom>
          <a:noFill/>
          <a:ln/>
        </p:spPr>
        <p:txBody>
          <a:bodyPr wrap="square" lIns="0" tIns="0" rIns="0" bIns="0" rtlCol="0" anchor="ctr"/>
          <a:lstStyle/>
          <a:p>
            <a:pPr algn="ctr" indent="0" marL="0">
              <a:buNone/>
            </a:pPr>
            <a:r>
              <a:rPr lang="en-US" sz="1600" b="1" dirty="0">
                <a:solidFill>
                  <a:schemeClr val="tx2"/>
                </a:solidFill>
              </a:rPr>
              <a:t>Build features</a:t>
            </a:r>
            <a:endParaRPr lang="en-US" sz="1600" dirty="0"/>
          </a:p>
        </p:txBody>
      </p:sp>
      <p:sp>
        <p:nvSpPr>
          <p:cNvPr id="14" name="Text 10"/>
          <p:cNvSpPr txBox="1"/>
          <p:nvPr/>
        </p:nvSpPr>
        <p:spPr>
          <a:xfrm>
            <a:off x="2551176" y="333756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61 clues per day, using only past data</a:t>
            </a:r>
            <a:endParaRPr lang="en-US" sz="1300" dirty="0"/>
          </a:p>
        </p:txBody>
      </p:sp>
      <p:sp>
        <p:nvSpPr>
          <p:cNvPr id="15" name="Step 3"/>
          <p:cNvSpPr/>
          <p:nvPr/>
        </p:nvSpPr>
        <p:spPr>
          <a:xfrm>
            <a:off x="4279392" y="1737360"/>
            <a:ext cx="1737360" cy="2926080"/>
          </a:xfrm>
          <a:prstGeom prst="roundRect">
            <a:avLst>
              <a:gd name="adj" fmla="val 6316"/>
            </a:avLst>
          </a:prstGeom>
          <a:solidFill>
            <a:schemeClr val="bg2"/>
          </a:solidFill>
          <a:ln/>
        </p:spPr>
      </p:sp>
      <p:sp>
        <p:nvSpPr>
          <p:cNvPr id="16" name="Step 3 circle"/>
          <p:cNvSpPr/>
          <p:nvPr/>
        </p:nvSpPr>
        <p:spPr>
          <a:xfrm>
            <a:off x="4782312" y="1965960"/>
            <a:ext cx="731520" cy="731520"/>
          </a:xfrm>
          <a:prstGeom prst="ellipse">
            <a:avLst/>
          </a:prstGeom>
          <a:solidFill>
            <a:schemeClr val="tx2"/>
          </a:solidFill>
          <a:ln/>
        </p:spPr>
      </p:sp>
      <p:pic>
        <p:nvPicPr>
          <p:cNvPr id="17" name="Step 3 icon" descr="preencoded.png">    </p:cNvPr>
          <p:cNvPicPr>
            <a:picLocks noChangeAspect="1"/>
          </p:cNvPicPr>
          <p:nvPr/>
        </p:nvPicPr>
        <p:blipFill>
          <a:blip r:embed="rId3"/>
          <a:stretch>
            <a:fillRect/>
          </a:stretch>
        </p:blipFill>
        <p:spPr>
          <a:xfrm>
            <a:off x="4965192" y="2148840"/>
            <a:ext cx="365760" cy="365760"/>
          </a:xfrm>
          <a:prstGeom prst="rect">
            <a:avLst/>
          </a:prstGeom>
        </p:spPr>
      </p:pic>
      <p:sp>
        <p:nvSpPr>
          <p:cNvPr id="18" name="Text 13"/>
          <p:cNvSpPr txBox="1"/>
          <p:nvPr/>
        </p:nvSpPr>
        <p:spPr>
          <a:xfrm>
            <a:off x="4416552" y="1828800"/>
            <a:ext cx="365760" cy="320040"/>
          </a:xfrm>
          <a:prstGeom prst="rect">
            <a:avLst/>
          </a:prstGeom>
          <a:noFill/>
          <a:ln/>
        </p:spPr>
        <p:txBody>
          <a:bodyPr wrap="square" lIns="0" tIns="0" rIns="0" bIns="0" rtlCol="0" anchor="ctr"/>
          <a:lstStyle/>
          <a:p>
            <a:pPr indent="0" marL="0">
              <a:buNone/>
            </a:pPr>
            <a:r>
              <a:rPr lang="en-US" sz="1200" b="1" dirty="0">
                <a:solidFill>
                  <a:schemeClr val="accent3"/>
                </a:solidFill>
              </a:rPr>
              <a:t>3</a:t>
            </a:r>
            <a:endParaRPr lang="en-US" sz="1200" dirty="0"/>
          </a:p>
        </p:txBody>
      </p:sp>
      <p:sp>
        <p:nvSpPr>
          <p:cNvPr id="19" name="Text 14"/>
          <p:cNvSpPr txBox="1"/>
          <p:nvPr/>
        </p:nvSpPr>
        <p:spPr>
          <a:xfrm>
            <a:off x="4389120" y="2880360"/>
            <a:ext cx="1517904" cy="411480"/>
          </a:xfrm>
          <a:prstGeom prst="rect">
            <a:avLst/>
          </a:prstGeom>
          <a:noFill/>
          <a:ln/>
        </p:spPr>
        <p:txBody>
          <a:bodyPr wrap="square" lIns="0" tIns="0" rIns="0" bIns="0" rtlCol="0" anchor="ctr"/>
          <a:lstStyle/>
          <a:p>
            <a:pPr algn="ctr" indent="0" marL="0">
              <a:buNone/>
            </a:pPr>
            <a:r>
              <a:rPr lang="en-US" sz="1600" b="1" dirty="0">
                <a:solidFill>
                  <a:schemeClr val="tx2"/>
                </a:solidFill>
              </a:rPr>
              <a:t>Split by time</a:t>
            </a:r>
            <a:endParaRPr lang="en-US" sz="1600" dirty="0"/>
          </a:p>
        </p:txBody>
      </p:sp>
      <p:sp>
        <p:nvSpPr>
          <p:cNvPr id="20" name="Text 15"/>
          <p:cNvSpPr txBox="1"/>
          <p:nvPr/>
        </p:nvSpPr>
        <p:spPr>
          <a:xfrm>
            <a:off x="4416552" y="333756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Train → validate → test, with a gap</a:t>
            </a:r>
            <a:endParaRPr lang="en-US" sz="1300" dirty="0"/>
          </a:p>
        </p:txBody>
      </p:sp>
      <p:sp>
        <p:nvSpPr>
          <p:cNvPr id="21" name="Step 4"/>
          <p:cNvSpPr/>
          <p:nvPr/>
        </p:nvSpPr>
        <p:spPr>
          <a:xfrm>
            <a:off x="6144768" y="1737360"/>
            <a:ext cx="1737360" cy="2926080"/>
          </a:xfrm>
          <a:prstGeom prst="roundRect">
            <a:avLst>
              <a:gd name="adj" fmla="val 6316"/>
            </a:avLst>
          </a:prstGeom>
          <a:solidFill>
            <a:schemeClr val="bg2"/>
          </a:solidFill>
          <a:ln/>
        </p:spPr>
      </p:sp>
      <p:sp>
        <p:nvSpPr>
          <p:cNvPr id="22" name="Step 4 circle"/>
          <p:cNvSpPr/>
          <p:nvPr/>
        </p:nvSpPr>
        <p:spPr>
          <a:xfrm>
            <a:off x="6647688" y="1965960"/>
            <a:ext cx="731520" cy="731520"/>
          </a:xfrm>
          <a:prstGeom prst="ellipse">
            <a:avLst/>
          </a:prstGeom>
          <a:solidFill>
            <a:schemeClr val="tx2"/>
          </a:solidFill>
          <a:ln/>
        </p:spPr>
      </p:sp>
      <p:pic>
        <p:nvPicPr>
          <p:cNvPr id="23" name="Step 4 icon" descr="preencoded.png">    </p:cNvPr>
          <p:cNvPicPr>
            <a:picLocks noChangeAspect="1"/>
          </p:cNvPicPr>
          <p:nvPr/>
        </p:nvPicPr>
        <p:blipFill>
          <a:blip r:embed="rId4"/>
          <a:stretch>
            <a:fillRect/>
          </a:stretch>
        </p:blipFill>
        <p:spPr>
          <a:xfrm>
            <a:off x="6830568" y="2148840"/>
            <a:ext cx="365760" cy="365760"/>
          </a:xfrm>
          <a:prstGeom prst="rect">
            <a:avLst/>
          </a:prstGeom>
        </p:spPr>
      </p:pic>
      <p:sp>
        <p:nvSpPr>
          <p:cNvPr id="24" name="Text 18"/>
          <p:cNvSpPr txBox="1"/>
          <p:nvPr/>
        </p:nvSpPr>
        <p:spPr>
          <a:xfrm>
            <a:off x="6281928" y="1828800"/>
            <a:ext cx="365760" cy="320040"/>
          </a:xfrm>
          <a:prstGeom prst="rect">
            <a:avLst/>
          </a:prstGeom>
          <a:noFill/>
          <a:ln/>
        </p:spPr>
        <p:txBody>
          <a:bodyPr wrap="square" lIns="0" tIns="0" rIns="0" bIns="0" rtlCol="0" anchor="ctr"/>
          <a:lstStyle/>
          <a:p>
            <a:pPr indent="0" marL="0">
              <a:buNone/>
            </a:pPr>
            <a:r>
              <a:rPr lang="en-US" sz="1200" b="1" dirty="0">
                <a:solidFill>
                  <a:schemeClr val="accent3"/>
                </a:solidFill>
              </a:rPr>
              <a:t>4</a:t>
            </a:r>
            <a:endParaRPr lang="en-US" sz="1200" dirty="0"/>
          </a:p>
        </p:txBody>
      </p:sp>
      <p:sp>
        <p:nvSpPr>
          <p:cNvPr id="25" name="Text 19"/>
          <p:cNvSpPr txBox="1"/>
          <p:nvPr/>
        </p:nvSpPr>
        <p:spPr>
          <a:xfrm>
            <a:off x="6254496" y="2880360"/>
            <a:ext cx="1517904" cy="411480"/>
          </a:xfrm>
          <a:prstGeom prst="rect">
            <a:avLst/>
          </a:prstGeom>
          <a:noFill/>
          <a:ln/>
        </p:spPr>
        <p:txBody>
          <a:bodyPr wrap="square" lIns="0" tIns="0" rIns="0" bIns="0" rtlCol="0" anchor="ctr"/>
          <a:lstStyle/>
          <a:p>
            <a:pPr algn="ctr" indent="0" marL="0">
              <a:buNone/>
            </a:pPr>
            <a:r>
              <a:rPr lang="en-US" sz="1600" b="1" dirty="0">
                <a:solidFill>
                  <a:schemeClr val="tx2"/>
                </a:solidFill>
              </a:rPr>
              <a:t>Tune &amp; select</a:t>
            </a:r>
            <a:endParaRPr lang="en-US" sz="1600" dirty="0"/>
          </a:p>
        </p:txBody>
      </p:sp>
      <p:sp>
        <p:nvSpPr>
          <p:cNvPr id="26" name="Text 20"/>
          <p:cNvSpPr txBox="1"/>
          <p:nvPr/>
        </p:nvSpPr>
        <p:spPr>
          <a:xfrm>
            <a:off x="6281928" y="333756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Best settings per model on validation</a:t>
            </a:r>
            <a:endParaRPr lang="en-US" sz="1300" dirty="0"/>
          </a:p>
        </p:txBody>
      </p:sp>
      <p:sp>
        <p:nvSpPr>
          <p:cNvPr id="27" name="Step 5"/>
          <p:cNvSpPr/>
          <p:nvPr/>
        </p:nvSpPr>
        <p:spPr>
          <a:xfrm>
            <a:off x="8010144" y="1737360"/>
            <a:ext cx="1737360" cy="2926080"/>
          </a:xfrm>
          <a:prstGeom prst="roundRect">
            <a:avLst>
              <a:gd name="adj" fmla="val 6316"/>
            </a:avLst>
          </a:prstGeom>
          <a:solidFill>
            <a:schemeClr val="bg2"/>
          </a:solidFill>
          <a:ln/>
        </p:spPr>
      </p:sp>
      <p:sp>
        <p:nvSpPr>
          <p:cNvPr id="28" name="Step 5 circle"/>
          <p:cNvSpPr/>
          <p:nvPr/>
        </p:nvSpPr>
        <p:spPr>
          <a:xfrm>
            <a:off x="8513064" y="1965960"/>
            <a:ext cx="731520" cy="731520"/>
          </a:xfrm>
          <a:prstGeom prst="ellipse">
            <a:avLst/>
          </a:prstGeom>
          <a:solidFill>
            <a:schemeClr val="accent2"/>
          </a:solidFill>
          <a:ln/>
        </p:spPr>
      </p:sp>
      <p:pic>
        <p:nvPicPr>
          <p:cNvPr id="29" name="Step 5 icon" descr="preencoded.png">    </p:cNvPr>
          <p:cNvPicPr>
            <a:picLocks noChangeAspect="1"/>
          </p:cNvPicPr>
          <p:nvPr/>
        </p:nvPicPr>
        <p:blipFill>
          <a:blip r:embed="rId5"/>
          <a:stretch>
            <a:fillRect/>
          </a:stretch>
        </p:blipFill>
        <p:spPr>
          <a:xfrm>
            <a:off x="8695944" y="2148840"/>
            <a:ext cx="365760" cy="365760"/>
          </a:xfrm>
          <a:prstGeom prst="rect">
            <a:avLst/>
          </a:prstGeom>
        </p:spPr>
      </p:pic>
      <p:sp>
        <p:nvSpPr>
          <p:cNvPr id="30" name="Text 23"/>
          <p:cNvSpPr txBox="1"/>
          <p:nvPr/>
        </p:nvSpPr>
        <p:spPr>
          <a:xfrm>
            <a:off x="8147304" y="1828800"/>
            <a:ext cx="365760" cy="320040"/>
          </a:xfrm>
          <a:prstGeom prst="rect">
            <a:avLst/>
          </a:prstGeom>
          <a:noFill/>
          <a:ln/>
        </p:spPr>
        <p:txBody>
          <a:bodyPr wrap="square" lIns="0" tIns="0" rIns="0" bIns="0" rtlCol="0" anchor="ctr"/>
          <a:lstStyle/>
          <a:p>
            <a:pPr indent="0" marL="0">
              <a:buNone/>
            </a:pPr>
            <a:r>
              <a:rPr lang="en-US" sz="1200" b="1" dirty="0">
                <a:solidFill>
                  <a:schemeClr val="accent3"/>
                </a:solidFill>
              </a:rPr>
              <a:t>5</a:t>
            </a:r>
            <a:endParaRPr lang="en-US" sz="1200" dirty="0"/>
          </a:p>
        </p:txBody>
      </p:sp>
      <p:sp>
        <p:nvSpPr>
          <p:cNvPr id="31" name="Text 24"/>
          <p:cNvSpPr txBox="1"/>
          <p:nvPr/>
        </p:nvSpPr>
        <p:spPr>
          <a:xfrm>
            <a:off x="8119872" y="2880360"/>
            <a:ext cx="1517904" cy="411480"/>
          </a:xfrm>
          <a:prstGeom prst="rect">
            <a:avLst/>
          </a:prstGeom>
          <a:noFill/>
          <a:ln/>
        </p:spPr>
        <p:txBody>
          <a:bodyPr wrap="square" lIns="0" tIns="0" rIns="0" bIns="0" rtlCol="0" anchor="ctr"/>
          <a:lstStyle/>
          <a:p>
            <a:pPr algn="ctr" indent="0" marL="0">
              <a:buNone/>
            </a:pPr>
            <a:r>
              <a:rPr lang="en-US" sz="1600" b="1" dirty="0">
                <a:solidFill>
                  <a:schemeClr val="tx2"/>
                </a:solidFill>
              </a:rPr>
              <a:t>Test once</a:t>
            </a:r>
            <a:endParaRPr lang="en-US" sz="1600" dirty="0"/>
          </a:p>
        </p:txBody>
      </p:sp>
      <p:sp>
        <p:nvSpPr>
          <p:cNvPr id="32" name="Text 25"/>
          <p:cNvSpPr txBox="1"/>
          <p:nvPr/>
        </p:nvSpPr>
        <p:spPr>
          <a:xfrm>
            <a:off x="8147304" y="333756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Score every model on unseen data</a:t>
            </a:r>
            <a:endParaRPr lang="en-US" sz="1300" dirty="0"/>
          </a:p>
        </p:txBody>
      </p:sp>
      <p:sp>
        <p:nvSpPr>
          <p:cNvPr id="33" name="Step 6"/>
          <p:cNvSpPr/>
          <p:nvPr/>
        </p:nvSpPr>
        <p:spPr>
          <a:xfrm>
            <a:off x="9875520" y="1737360"/>
            <a:ext cx="1737360" cy="2926080"/>
          </a:xfrm>
          <a:prstGeom prst="roundRect">
            <a:avLst>
              <a:gd name="adj" fmla="val 6316"/>
            </a:avLst>
          </a:prstGeom>
          <a:solidFill>
            <a:schemeClr val="bg2"/>
          </a:solidFill>
          <a:ln/>
        </p:spPr>
      </p:sp>
      <p:sp>
        <p:nvSpPr>
          <p:cNvPr id="34" name="Step 6 circle"/>
          <p:cNvSpPr/>
          <p:nvPr/>
        </p:nvSpPr>
        <p:spPr>
          <a:xfrm>
            <a:off x="10378440" y="1965960"/>
            <a:ext cx="731520" cy="731520"/>
          </a:xfrm>
          <a:prstGeom prst="ellipse">
            <a:avLst/>
          </a:prstGeom>
          <a:solidFill>
            <a:schemeClr val="tx2"/>
          </a:solidFill>
          <a:ln/>
        </p:spPr>
      </p:sp>
      <p:pic>
        <p:nvPicPr>
          <p:cNvPr id="35" name="Step 6 icon" descr="preencoded.png">    </p:cNvPr>
          <p:cNvPicPr>
            <a:picLocks noChangeAspect="1"/>
          </p:cNvPicPr>
          <p:nvPr/>
        </p:nvPicPr>
        <p:blipFill>
          <a:blip r:embed="rId6"/>
          <a:stretch>
            <a:fillRect/>
          </a:stretch>
        </p:blipFill>
        <p:spPr>
          <a:xfrm>
            <a:off x="10561320" y="2148840"/>
            <a:ext cx="365760" cy="365760"/>
          </a:xfrm>
          <a:prstGeom prst="rect">
            <a:avLst/>
          </a:prstGeom>
        </p:spPr>
      </p:pic>
      <p:sp>
        <p:nvSpPr>
          <p:cNvPr id="36" name="Text 28"/>
          <p:cNvSpPr txBox="1"/>
          <p:nvPr/>
        </p:nvSpPr>
        <p:spPr>
          <a:xfrm>
            <a:off x="10012680" y="1828800"/>
            <a:ext cx="365760" cy="320040"/>
          </a:xfrm>
          <a:prstGeom prst="rect">
            <a:avLst/>
          </a:prstGeom>
          <a:noFill/>
          <a:ln/>
        </p:spPr>
        <p:txBody>
          <a:bodyPr wrap="square" lIns="0" tIns="0" rIns="0" bIns="0" rtlCol="0" anchor="ctr"/>
          <a:lstStyle/>
          <a:p>
            <a:pPr indent="0" marL="0">
              <a:buNone/>
            </a:pPr>
            <a:r>
              <a:rPr lang="en-US" sz="1200" b="1" dirty="0">
                <a:solidFill>
                  <a:schemeClr val="accent3"/>
                </a:solidFill>
              </a:rPr>
              <a:t>6</a:t>
            </a:r>
            <a:endParaRPr lang="en-US" sz="1200" dirty="0"/>
          </a:p>
        </p:txBody>
      </p:sp>
      <p:sp>
        <p:nvSpPr>
          <p:cNvPr id="37" name="Text 29"/>
          <p:cNvSpPr txBox="1"/>
          <p:nvPr/>
        </p:nvSpPr>
        <p:spPr>
          <a:xfrm>
            <a:off x="9985248" y="2880360"/>
            <a:ext cx="1517904" cy="411480"/>
          </a:xfrm>
          <a:prstGeom prst="rect">
            <a:avLst/>
          </a:prstGeom>
          <a:noFill/>
          <a:ln/>
        </p:spPr>
        <p:txBody>
          <a:bodyPr wrap="square" lIns="0" tIns="0" rIns="0" bIns="0" rtlCol="0" anchor="ctr"/>
          <a:lstStyle/>
          <a:p>
            <a:pPr algn="ctr" indent="0" marL="0">
              <a:buNone/>
            </a:pPr>
            <a:r>
              <a:rPr lang="en-US" sz="1600" b="1" dirty="0">
                <a:solidFill>
                  <a:schemeClr val="tx2"/>
                </a:solidFill>
              </a:rPr>
              <a:t>Backtest</a:t>
            </a:r>
            <a:endParaRPr lang="en-US" sz="1600" dirty="0"/>
          </a:p>
        </p:txBody>
      </p:sp>
      <p:sp>
        <p:nvSpPr>
          <p:cNvPr id="38" name="Text 30"/>
          <p:cNvSpPr txBox="1"/>
          <p:nvPr/>
        </p:nvSpPr>
        <p:spPr>
          <a:xfrm>
            <a:off x="10012680" y="333756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Trade on forecasts, pay 0.05% per trade</a:t>
            </a:r>
            <a:endParaRPr lang="en-US" sz="1300" dirty="0"/>
          </a:p>
        </p:txBody>
      </p:sp>
      <p:sp>
        <p:nvSpPr>
          <p:cNvPr id="39" name="Text 31"/>
          <p:cNvSpPr txBox="1"/>
          <p:nvPr/>
        </p:nvSpPr>
        <p:spPr>
          <a:xfrm>
            <a:off x="548640" y="5029200"/>
            <a:ext cx="11064240" cy="457200"/>
          </a:xfrm>
          <a:prstGeom prst="rect">
            <a:avLst/>
          </a:prstGeom>
          <a:noFill/>
          <a:ln/>
        </p:spPr>
        <p:txBody>
          <a:bodyPr wrap="square" lIns="0" tIns="0" rIns="0" bIns="0" rtlCol="0" anchor="ctr"/>
          <a:lstStyle/>
          <a:p>
            <a:pPr indent="0" marL="0">
              <a:buNone/>
            </a:pPr>
            <a:r>
              <a:rPr lang="en-US" sz="1500" b="1" dirty="0">
                <a:solidFill>
                  <a:schemeClr val="tx2"/>
                </a:solidFill>
              </a:rPr>
              <a:t>Target: </a:t>
            </a:r>
            <a:pPr indent="0" marL="0">
              <a:buNone/>
            </a:pPr>
            <a:r>
              <a:rPr lang="en-US" sz="1500" dirty="0">
                <a:solidFill>
                  <a:schemeClr val="tx1"/>
                </a:solidFill>
              </a:rPr>
              <a:t>Maruti's return over the next 5 trading days = Close[t+5] / Close[t] − 1. Also tested at 1 and 20 days.</a:t>
            </a:r>
            <a:endParaRPr lang="en-US" sz="1500" dirty="0"/>
          </a:p>
        </p:txBody>
      </p:sp>
      <p:sp>
        <p:nvSpPr>
          <p:cNvPr id="40" name="Text 32"/>
          <p:cNvSpPr txBox="1"/>
          <p:nvPr/>
        </p:nvSpPr>
        <p:spPr>
          <a:xfrm>
            <a:off x="548640" y="5532120"/>
            <a:ext cx="11064240" cy="457200"/>
          </a:xfrm>
          <a:prstGeom prst="rect">
            <a:avLst/>
          </a:prstGeom>
          <a:noFill/>
          <a:ln/>
        </p:spPr>
        <p:txBody>
          <a:bodyPr wrap="square" lIns="0" tIns="0" rIns="0" bIns="0" rtlCol="0" anchor="ctr"/>
          <a:lstStyle/>
          <a:p>
            <a:pPr indent="0" marL="0">
              <a:buNone/>
            </a:pPr>
            <a:r>
              <a:rPr lang="en-US" sz="1300" i="1" dirty="0">
                <a:solidFill>
                  <a:schemeClr val="tx1"/>
                </a:solidFill>
              </a:rPr>
              <a:t>Everything is reproducible: run_experiment.py rebuilds every table and chart; 11 automated tests check for future-data leakage.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Features and models</a:t>
            </a:r>
            <a:endParaRPr lang="en-US" sz="3600" dirty="0"/>
          </a:p>
        </p:txBody>
      </p:sp>
      <p:sp>
        <p:nvSpPr>
          <p:cNvPr id="3" name="Features card"/>
          <p:cNvSpPr/>
          <p:nvPr/>
        </p:nvSpPr>
        <p:spPr>
          <a:xfrm>
            <a:off x="548640" y="1325880"/>
            <a:ext cx="5486400" cy="4754880"/>
          </a:xfrm>
          <a:prstGeom prst="roundRect">
            <a:avLst>
              <a:gd name="adj" fmla="val 2308"/>
            </a:avLst>
          </a:prstGeom>
          <a:solidFill>
            <a:schemeClr val="bg2"/>
          </a:solidFill>
          <a:ln/>
        </p:spPr>
      </p:sp>
      <p:sp>
        <p:nvSpPr>
          <p:cNvPr id="4" name="Text 2"/>
          <p:cNvSpPr txBox="1"/>
          <p:nvPr/>
        </p:nvSpPr>
        <p:spPr>
          <a:xfrm>
            <a:off x="868680" y="1508760"/>
            <a:ext cx="4937760" cy="411480"/>
          </a:xfrm>
          <a:prstGeom prst="rect">
            <a:avLst/>
          </a:prstGeom>
          <a:noFill/>
          <a:ln/>
        </p:spPr>
        <p:txBody>
          <a:bodyPr wrap="square" lIns="0" tIns="0" rIns="0" bIns="0" rtlCol="0" anchor="ctr"/>
          <a:lstStyle/>
          <a:p>
            <a:pPr indent="0" marL="0">
              <a:buNone/>
            </a:pPr>
            <a:r>
              <a:rPr lang="en-US" sz="2000" b="1" dirty="0">
                <a:solidFill>
                  <a:schemeClr val="tx2"/>
                </a:solidFill>
              </a:rPr>
              <a:t>61 features for each day</a:t>
            </a:r>
            <a:endParaRPr lang="en-US" sz="2000" dirty="0"/>
          </a:p>
        </p:txBody>
      </p:sp>
      <p:sp>
        <p:nvSpPr>
          <p:cNvPr id="5" name="Text 3"/>
          <p:cNvSpPr txBox="1"/>
          <p:nvPr/>
        </p:nvSpPr>
        <p:spPr>
          <a:xfrm>
            <a:off x="868680" y="2103120"/>
            <a:ext cx="10972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11</a:t>
            </a:r>
            <a:endParaRPr lang="en-US" sz="4000" dirty="0"/>
          </a:p>
        </p:txBody>
      </p:sp>
      <p:sp>
        <p:nvSpPr>
          <p:cNvPr id="6" name="Text 4"/>
          <p:cNvSpPr txBox="1"/>
          <p:nvPr/>
        </p:nvSpPr>
        <p:spPr>
          <a:xfrm>
            <a:off x="2011680" y="2103120"/>
            <a:ext cx="3749040" cy="1463040"/>
          </a:xfrm>
          <a:prstGeom prst="rect">
            <a:avLst/>
          </a:prstGeom>
          <a:noFill/>
          <a:ln/>
        </p:spPr>
        <p:txBody>
          <a:bodyPr wrap="square" lIns="0" tIns="0" rIns="0" bIns="0" rtlCol="0" anchor="t"/>
          <a:lstStyle/>
          <a:p>
            <a:pPr indent="0" marL="0">
              <a:buNone/>
            </a:pPr>
            <a:r>
              <a:rPr lang="en-US" sz="1300" b="1" dirty="0">
                <a:solidFill>
                  <a:schemeClr val="tx2"/>
                </a:solidFill>
              </a:rPr>
              <a:t>Maruti's own history</a:t>
            </a:r>
            <a:endParaRPr lang="en-US" sz="1300" dirty="0"/>
          </a:p>
          <a:p>
            <a:pPr indent="0" marL="0">
              <a:buNone/>
            </a:pPr>
            <a:r>
              <a:rPr lang="en-US" sz="1300" dirty="0">
                <a:solidFill>
                  <a:schemeClr val="tx1"/>
                </a:solidFill>
              </a:rPr>
              <a:t>1/5/20-day returns, price vs 5/20/50-day averages, 10/20-day volatility, volume change, day's range, where it closed in the range</a:t>
            </a:r>
            <a:endParaRPr lang="en-US" sz="1300" dirty="0"/>
          </a:p>
        </p:txBody>
      </p:sp>
      <p:sp>
        <p:nvSpPr>
          <p:cNvPr id="7" name="Text 5"/>
          <p:cNvSpPr txBox="1"/>
          <p:nvPr/>
        </p:nvSpPr>
        <p:spPr>
          <a:xfrm>
            <a:off x="868680" y="3611880"/>
            <a:ext cx="109728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50</a:t>
            </a:r>
            <a:endParaRPr lang="en-US" sz="4000" dirty="0"/>
          </a:p>
        </p:txBody>
      </p:sp>
      <p:sp>
        <p:nvSpPr>
          <p:cNvPr id="8" name="Text 6"/>
          <p:cNvSpPr txBox="1"/>
          <p:nvPr/>
        </p:nvSpPr>
        <p:spPr>
          <a:xfrm>
            <a:off x="2011680" y="3611880"/>
            <a:ext cx="3749040" cy="1188720"/>
          </a:xfrm>
          <a:prstGeom prst="rect">
            <a:avLst/>
          </a:prstGeom>
          <a:noFill/>
          <a:ln/>
        </p:spPr>
        <p:txBody>
          <a:bodyPr wrap="square" lIns="0" tIns="0" rIns="0" bIns="0" rtlCol="0" anchor="t"/>
          <a:lstStyle/>
          <a:p>
            <a:pPr indent="0" marL="0">
              <a:buNone/>
            </a:pPr>
            <a:r>
              <a:rPr lang="en-US" sz="1300" b="1" dirty="0">
                <a:solidFill>
                  <a:schemeClr val="tx2"/>
                </a:solidFill>
              </a:rPr>
              <a:t>Supplier &amp; market returns</a:t>
            </a:r>
            <a:endParaRPr lang="en-US" sz="1300" dirty="0"/>
          </a:p>
          <a:p>
            <a:pPr indent="0" marL="0">
              <a:buNone/>
            </a:pPr>
            <a:r>
              <a:rPr lang="en-US" sz="1300" dirty="0">
                <a:solidFill>
                  <a:schemeClr val="tx1"/>
                </a:solidFill>
              </a:rPr>
              <a:t>each of the 10 peers' daily return on each of the last 5 days (the paper used 28 days)</a:t>
            </a:r>
            <a:endParaRPr lang="en-US" sz="1300" dirty="0"/>
          </a:p>
        </p:txBody>
      </p:sp>
      <p:sp>
        <p:nvSpPr>
          <p:cNvPr id="9" name="Text 7"/>
          <p:cNvSpPr txBox="1"/>
          <p:nvPr/>
        </p:nvSpPr>
        <p:spPr>
          <a:xfrm>
            <a:off x="6492240" y="1508760"/>
            <a:ext cx="5120640" cy="411480"/>
          </a:xfrm>
          <a:prstGeom prst="rect">
            <a:avLst/>
          </a:prstGeom>
          <a:noFill/>
          <a:ln/>
        </p:spPr>
        <p:txBody>
          <a:bodyPr wrap="square" lIns="0" tIns="0" rIns="0" bIns="0" rtlCol="0" anchor="ctr"/>
          <a:lstStyle/>
          <a:p>
            <a:pPr indent="0" marL="0">
              <a:buNone/>
            </a:pPr>
            <a:r>
              <a:rPr lang="en-US" sz="2000" b="1" dirty="0">
                <a:solidFill>
                  <a:schemeClr val="tx2"/>
                </a:solidFill>
              </a:rPr>
              <a:t>Six models compared</a:t>
            </a:r>
            <a:endParaRPr lang="en-US" sz="2000" dirty="0"/>
          </a:p>
        </p:txBody>
      </p:sp>
      <p:sp>
        <p:nvSpPr>
          <p:cNvPr id="10" name="Model 1 circle"/>
          <p:cNvSpPr/>
          <p:nvPr/>
        </p:nvSpPr>
        <p:spPr>
          <a:xfrm>
            <a:off x="6492240" y="2103120"/>
            <a:ext cx="548640" cy="548640"/>
          </a:xfrm>
          <a:prstGeom prst="ellipse">
            <a:avLst/>
          </a:prstGeom>
          <a:solidFill>
            <a:schemeClr val="tx2"/>
          </a:solidFill>
          <a:ln/>
        </p:spPr>
      </p:sp>
      <p:pic>
        <p:nvPicPr>
          <p:cNvPr id="11" name="Model 1 icon" descr="preencoded.png">    </p:cNvPr>
          <p:cNvPicPr>
            <a:picLocks noChangeAspect="1"/>
          </p:cNvPicPr>
          <p:nvPr/>
        </p:nvPicPr>
        <p:blipFill>
          <a:blip r:embed="rId1"/>
          <a:stretch>
            <a:fillRect/>
          </a:stretch>
        </p:blipFill>
        <p:spPr>
          <a:xfrm>
            <a:off x="6629400" y="2240280"/>
            <a:ext cx="274320" cy="274320"/>
          </a:xfrm>
          <a:prstGeom prst="rect">
            <a:avLst/>
          </a:prstGeom>
        </p:spPr>
      </p:pic>
      <p:sp>
        <p:nvSpPr>
          <p:cNvPr id="12" name="Text 9"/>
          <p:cNvSpPr txBox="1"/>
          <p:nvPr/>
        </p:nvSpPr>
        <p:spPr>
          <a:xfrm>
            <a:off x="7223760" y="2057400"/>
            <a:ext cx="4389120" cy="731520"/>
          </a:xfrm>
          <a:prstGeom prst="rect">
            <a:avLst/>
          </a:prstGeom>
          <a:noFill/>
          <a:ln/>
        </p:spPr>
        <p:txBody>
          <a:bodyPr wrap="square" lIns="0" tIns="0" rIns="0" bIns="0" rtlCol="0" anchor="t"/>
          <a:lstStyle/>
          <a:p>
            <a:pPr indent="0" marL="0">
              <a:buNone/>
            </a:pPr>
            <a:r>
              <a:rPr lang="en-US" sz="1300" b="1" dirty="0">
                <a:solidFill>
                  <a:schemeClr val="tx2"/>
                </a:solidFill>
              </a:rPr>
              <a:t>Elastic Net</a:t>
            </a:r>
            <a:endParaRPr lang="en-US" sz="1300" dirty="0"/>
          </a:p>
          <a:p>
            <a:pPr indent="0" marL="0">
              <a:buNone/>
            </a:pPr>
            <a:r>
              <a:rPr lang="en-US" sz="1300" dirty="0">
                <a:solidFill>
                  <a:schemeClr val="tx1"/>
                </a:solidFill>
              </a:rPr>
              <a:t>best-fit line with a penalty that stops it chasing noise</a:t>
            </a:r>
            <a:endParaRPr lang="en-US" sz="1300" dirty="0"/>
          </a:p>
        </p:txBody>
      </p:sp>
      <p:sp>
        <p:nvSpPr>
          <p:cNvPr id="13" name="Model 2 circle"/>
          <p:cNvSpPr/>
          <p:nvPr/>
        </p:nvSpPr>
        <p:spPr>
          <a:xfrm>
            <a:off x="6492240" y="2889504"/>
            <a:ext cx="548640" cy="548640"/>
          </a:xfrm>
          <a:prstGeom prst="ellipse">
            <a:avLst/>
          </a:prstGeom>
          <a:solidFill>
            <a:schemeClr val="tx2"/>
          </a:solidFill>
          <a:ln/>
        </p:spPr>
      </p:sp>
      <p:pic>
        <p:nvPicPr>
          <p:cNvPr id="14" name="Model 2 icon" descr="preencoded.png">    </p:cNvPr>
          <p:cNvPicPr>
            <a:picLocks noChangeAspect="1"/>
          </p:cNvPicPr>
          <p:nvPr/>
        </p:nvPicPr>
        <p:blipFill>
          <a:blip r:embed="rId2"/>
          <a:stretch>
            <a:fillRect/>
          </a:stretch>
        </p:blipFill>
        <p:spPr>
          <a:xfrm>
            <a:off x="6629400" y="3026664"/>
            <a:ext cx="274320" cy="274320"/>
          </a:xfrm>
          <a:prstGeom prst="rect">
            <a:avLst/>
          </a:prstGeom>
        </p:spPr>
      </p:pic>
      <p:sp>
        <p:nvSpPr>
          <p:cNvPr id="15" name="Text 11"/>
          <p:cNvSpPr txBox="1"/>
          <p:nvPr/>
        </p:nvSpPr>
        <p:spPr>
          <a:xfrm>
            <a:off x="7223760" y="2843784"/>
            <a:ext cx="4389120" cy="731520"/>
          </a:xfrm>
          <a:prstGeom prst="rect">
            <a:avLst/>
          </a:prstGeom>
          <a:noFill/>
          <a:ln/>
        </p:spPr>
        <p:txBody>
          <a:bodyPr wrap="square" lIns="0" tIns="0" rIns="0" bIns="0" rtlCol="0" anchor="t"/>
          <a:lstStyle/>
          <a:p>
            <a:pPr indent="0" marL="0">
              <a:buNone/>
            </a:pPr>
            <a:r>
              <a:rPr lang="en-US" sz="1300" b="1" dirty="0">
                <a:solidFill>
                  <a:schemeClr val="tx2"/>
                </a:solidFill>
              </a:rPr>
              <a:t>Decision Tree</a:t>
            </a:r>
            <a:endParaRPr lang="en-US" sz="1300" dirty="0"/>
          </a:p>
          <a:p>
            <a:pPr indent="0" marL="0">
              <a:buNone/>
            </a:pPr>
            <a:r>
              <a:rPr lang="en-US" sz="1300" dirty="0">
                <a:solidFill>
                  <a:schemeClr val="tx1"/>
                </a:solidFill>
              </a:rPr>
              <a:t>a small yes/no flowchart (depth ≤ 8)</a:t>
            </a:r>
            <a:endParaRPr lang="en-US" sz="1300" dirty="0"/>
          </a:p>
        </p:txBody>
      </p:sp>
      <p:sp>
        <p:nvSpPr>
          <p:cNvPr id="16" name="Model 3 circle"/>
          <p:cNvSpPr/>
          <p:nvPr/>
        </p:nvSpPr>
        <p:spPr>
          <a:xfrm>
            <a:off x="6492240" y="3675888"/>
            <a:ext cx="548640" cy="548640"/>
          </a:xfrm>
          <a:prstGeom prst="ellipse">
            <a:avLst/>
          </a:prstGeom>
          <a:solidFill>
            <a:schemeClr val="tx2"/>
          </a:solidFill>
          <a:ln/>
        </p:spPr>
      </p:sp>
      <p:pic>
        <p:nvPicPr>
          <p:cNvPr id="17" name="Model 3 icon" descr="preencoded.png">    </p:cNvPr>
          <p:cNvPicPr>
            <a:picLocks noChangeAspect="1"/>
          </p:cNvPicPr>
          <p:nvPr/>
        </p:nvPicPr>
        <p:blipFill>
          <a:blip r:embed="rId3"/>
          <a:stretch>
            <a:fillRect/>
          </a:stretch>
        </p:blipFill>
        <p:spPr>
          <a:xfrm>
            <a:off x="6629400" y="3813048"/>
            <a:ext cx="274320" cy="274320"/>
          </a:xfrm>
          <a:prstGeom prst="rect">
            <a:avLst/>
          </a:prstGeom>
        </p:spPr>
      </p:pic>
      <p:sp>
        <p:nvSpPr>
          <p:cNvPr id="18" name="Text 13"/>
          <p:cNvSpPr txBox="1"/>
          <p:nvPr/>
        </p:nvSpPr>
        <p:spPr>
          <a:xfrm>
            <a:off x="7223760" y="3630168"/>
            <a:ext cx="4389120" cy="731520"/>
          </a:xfrm>
          <a:prstGeom prst="rect">
            <a:avLst/>
          </a:prstGeom>
          <a:noFill/>
          <a:ln/>
        </p:spPr>
        <p:txBody>
          <a:bodyPr wrap="square" lIns="0" tIns="0" rIns="0" bIns="0" rtlCol="0" anchor="t"/>
          <a:lstStyle/>
          <a:p>
            <a:pPr indent="0" marL="0">
              <a:buNone/>
            </a:pPr>
            <a:r>
              <a:rPr lang="en-US" sz="1300" b="1" dirty="0">
                <a:solidFill>
                  <a:schemeClr val="tx2"/>
                </a:solidFill>
              </a:rPr>
              <a:t>Random Forest</a:t>
            </a:r>
            <a:endParaRPr lang="en-US" sz="1300" dirty="0"/>
          </a:p>
          <a:p>
            <a:pPr indent="0" marL="0">
              <a:buNone/>
            </a:pPr>
            <a:r>
              <a:rPr lang="en-US" sz="1300" dirty="0">
                <a:solidFill>
                  <a:schemeClr val="tx1"/>
                </a:solidFill>
              </a:rPr>
              <a:t>150 trees that vote; averaging cuts noise</a:t>
            </a:r>
            <a:endParaRPr lang="en-US" sz="1300" dirty="0"/>
          </a:p>
        </p:txBody>
      </p:sp>
      <p:sp>
        <p:nvSpPr>
          <p:cNvPr id="19" name="Model 4 circle"/>
          <p:cNvSpPr/>
          <p:nvPr/>
        </p:nvSpPr>
        <p:spPr>
          <a:xfrm>
            <a:off x="6492240" y="4462272"/>
            <a:ext cx="548640" cy="548640"/>
          </a:xfrm>
          <a:prstGeom prst="ellipse">
            <a:avLst/>
          </a:prstGeom>
          <a:solidFill>
            <a:schemeClr val="tx2"/>
          </a:solidFill>
          <a:ln/>
        </p:spPr>
      </p:sp>
      <p:pic>
        <p:nvPicPr>
          <p:cNvPr id="20" name="Model 4 icon" descr="preencoded.png">    </p:cNvPr>
          <p:cNvPicPr>
            <a:picLocks noChangeAspect="1"/>
          </p:cNvPicPr>
          <p:nvPr/>
        </p:nvPicPr>
        <p:blipFill>
          <a:blip r:embed="rId4"/>
          <a:stretch>
            <a:fillRect/>
          </a:stretch>
        </p:blipFill>
        <p:spPr>
          <a:xfrm>
            <a:off x="6629400" y="4599432"/>
            <a:ext cx="274320" cy="274320"/>
          </a:xfrm>
          <a:prstGeom prst="rect">
            <a:avLst/>
          </a:prstGeom>
        </p:spPr>
      </p:pic>
      <p:sp>
        <p:nvSpPr>
          <p:cNvPr id="21" name="Text 15"/>
          <p:cNvSpPr txBox="1"/>
          <p:nvPr/>
        </p:nvSpPr>
        <p:spPr>
          <a:xfrm>
            <a:off x="7223760" y="4416552"/>
            <a:ext cx="4389120" cy="731520"/>
          </a:xfrm>
          <a:prstGeom prst="rect">
            <a:avLst/>
          </a:prstGeom>
          <a:noFill/>
          <a:ln/>
        </p:spPr>
        <p:txBody>
          <a:bodyPr wrap="square" lIns="0" tIns="0" rIns="0" bIns="0" rtlCol="0" anchor="t"/>
          <a:lstStyle/>
          <a:p>
            <a:pPr indent="0" marL="0">
              <a:buNone/>
            </a:pPr>
            <a:r>
              <a:rPr lang="en-US" sz="1300" b="1" dirty="0">
                <a:solidFill>
                  <a:schemeClr val="tx2"/>
                </a:solidFill>
              </a:rPr>
              <a:t>Gradient Boosting</a:t>
            </a:r>
            <a:endParaRPr lang="en-US" sz="1300" dirty="0"/>
          </a:p>
          <a:p>
            <a:pPr indent="0" marL="0">
              <a:buNone/>
            </a:pPr>
            <a:r>
              <a:rPr lang="en-US" sz="1300" dirty="0">
                <a:solidFill>
                  <a:schemeClr val="tx1"/>
                </a:solidFill>
              </a:rPr>
              <a:t>trees built one after another, each fixing the last (like LightGBM)</a:t>
            </a:r>
            <a:endParaRPr lang="en-US" sz="1300" dirty="0"/>
          </a:p>
        </p:txBody>
      </p:sp>
      <p:sp>
        <p:nvSpPr>
          <p:cNvPr id="22" name="Model 5 circle"/>
          <p:cNvSpPr/>
          <p:nvPr/>
        </p:nvSpPr>
        <p:spPr>
          <a:xfrm>
            <a:off x="6492240" y="5248656"/>
            <a:ext cx="548640" cy="548640"/>
          </a:xfrm>
          <a:prstGeom prst="ellipse">
            <a:avLst/>
          </a:prstGeom>
          <a:solidFill>
            <a:schemeClr val="accent3"/>
          </a:solidFill>
          <a:ln/>
        </p:spPr>
      </p:sp>
      <p:pic>
        <p:nvPicPr>
          <p:cNvPr id="23" name="Model 5 icon" descr="preencoded.png">    </p:cNvPr>
          <p:cNvPicPr>
            <a:picLocks noChangeAspect="1"/>
          </p:cNvPicPr>
          <p:nvPr/>
        </p:nvPicPr>
        <p:blipFill>
          <a:blip r:embed="rId5"/>
          <a:stretch>
            <a:fillRect/>
          </a:stretch>
        </p:blipFill>
        <p:spPr>
          <a:xfrm>
            <a:off x="6629400" y="5385816"/>
            <a:ext cx="274320" cy="274320"/>
          </a:xfrm>
          <a:prstGeom prst="rect">
            <a:avLst/>
          </a:prstGeom>
        </p:spPr>
      </p:pic>
      <p:sp>
        <p:nvSpPr>
          <p:cNvPr id="24" name="Text 17"/>
          <p:cNvSpPr txBox="1"/>
          <p:nvPr/>
        </p:nvSpPr>
        <p:spPr>
          <a:xfrm>
            <a:off x="7223760" y="5202936"/>
            <a:ext cx="4389120" cy="731520"/>
          </a:xfrm>
          <a:prstGeom prst="rect">
            <a:avLst/>
          </a:prstGeom>
          <a:noFill/>
          <a:ln/>
        </p:spPr>
        <p:txBody>
          <a:bodyPr wrap="square" lIns="0" tIns="0" rIns="0" bIns="0" rtlCol="0" anchor="t"/>
          <a:lstStyle/>
          <a:p>
            <a:pPr indent="0" marL="0">
              <a:buNone/>
            </a:pPr>
            <a:r>
              <a:rPr lang="en-US" sz="1300" b="1" dirty="0">
                <a:solidFill>
                  <a:schemeClr val="tx2"/>
                </a:solidFill>
              </a:rPr>
              <a:t>Baselines</a:t>
            </a:r>
            <a:endParaRPr lang="en-US" sz="1300" dirty="0"/>
          </a:p>
          <a:p>
            <a:pPr indent="0" marL="0">
              <a:buNone/>
            </a:pPr>
            <a:r>
              <a:rPr lang="en-US" sz="1300" dirty="0">
                <a:solidFill>
                  <a:schemeClr val="tx1"/>
                </a:solidFill>
              </a:rPr>
              <a:t>predict 0 (“no change”) and the historical average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Testing without peeking at the future</a:t>
            </a:r>
            <a:endParaRPr lang="en-US" sz="3600" dirty="0"/>
          </a:p>
        </p:txBody>
      </p:sp>
      <p:sp>
        <p:nvSpPr>
          <p:cNvPr id="3" name="Train block"/>
          <p:cNvSpPr/>
          <p:nvPr/>
        </p:nvSpPr>
        <p:spPr>
          <a:xfrm>
            <a:off x="548640" y="1554480"/>
            <a:ext cx="6035040" cy="822960"/>
          </a:xfrm>
          <a:prstGeom prst="roundRect">
            <a:avLst>
              <a:gd name="adj" fmla="val 11111"/>
            </a:avLst>
          </a:prstGeom>
          <a:solidFill>
            <a:schemeClr val="tx2"/>
          </a:solidFill>
          <a:ln/>
        </p:spPr>
      </p:sp>
      <p:sp>
        <p:nvSpPr>
          <p:cNvPr id="4" name="Text 2"/>
          <p:cNvSpPr txBox="1"/>
          <p:nvPr/>
        </p:nvSpPr>
        <p:spPr>
          <a:xfrm>
            <a:off x="731520" y="1600200"/>
            <a:ext cx="5669280" cy="731520"/>
          </a:xfrm>
          <a:prstGeom prst="rect">
            <a:avLst/>
          </a:prstGeom>
          <a:noFill/>
          <a:ln/>
        </p:spPr>
        <p:txBody>
          <a:bodyPr wrap="square" lIns="0" tIns="0" rIns="0" bIns="0" rtlCol="0" anchor="ctr"/>
          <a:lstStyle/>
          <a:p>
            <a:pPr indent="0" marL="0">
              <a:buNone/>
            </a:pPr>
            <a:r>
              <a:rPr lang="en-US" sz="1600" b="1" dirty="0">
                <a:solidFill>
                  <a:schemeClr val="bg1"/>
                </a:solidFill>
              </a:rPr>
              <a:t>Train</a:t>
            </a:r>
            <a:endParaRPr lang="en-US" sz="1600" dirty="0"/>
          </a:p>
          <a:p>
            <a:pPr indent="0" marL="0">
              <a:buNone/>
            </a:pPr>
            <a:r>
              <a:rPr lang="en-US" sz="1200" dirty="0">
                <a:solidFill>
                  <a:schemeClr val="bg1"/>
                </a:solidFill>
              </a:rPr>
              <a:t>1,444 days</a:t>
            </a:r>
            <a:endParaRPr lang="en-US" sz="1600" dirty="0"/>
          </a:p>
        </p:txBody>
      </p:sp>
      <p:sp>
        <p:nvSpPr>
          <p:cNvPr id="5" name="Text 3"/>
          <p:cNvSpPr txBox="1"/>
          <p:nvPr/>
        </p:nvSpPr>
        <p:spPr>
          <a:xfrm>
            <a:off x="548640" y="2468880"/>
            <a:ext cx="6035040" cy="320040"/>
          </a:xfrm>
          <a:prstGeom prst="rect">
            <a:avLst/>
          </a:prstGeom>
          <a:noFill/>
          <a:ln/>
        </p:spPr>
        <p:txBody>
          <a:bodyPr wrap="square" lIns="0" tIns="0" rIns="0" bIns="0" rtlCol="0" anchor="ctr"/>
          <a:lstStyle/>
          <a:p>
            <a:pPr algn="ctr" indent="0" marL="0">
              <a:buNone/>
            </a:pPr>
            <a:r>
              <a:rPr lang="en-US" sz="1200" dirty="0">
                <a:solidFill>
                  <a:schemeClr val="tx1"/>
                </a:solidFill>
              </a:rPr>
              <a:t>Dec 2016 – Oct 2022</a:t>
            </a:r>
            <a:endParaRPr lang="en-US" sz="1200" dirty="0"/>
          </a:p>
        </p:txBody>
      </p:sp>
      <p:sp>
        <p:nvSpPr>
          <p:cNvPr id="6" name="Validate block"/>
          <p:cNvSpPr/>
          <p:nvPr/>
        </p:nvSpPr>
        <p:spPr>
          <a:xfrm>
            <a:off x="6858000" y="1554480"/>
            <a:ext cx="2240280" cy="822960"/>
          </a:xfrm>
          <a:prstGeom prst="roundRect">
            <a:avLst>
              <a:gd name="adj" fmla="val 11111"/>
            </a:avLst>
          </a:prstGeom>
          <a:solidFill>
            <a:schemeClr val="accent5"/>
          </a:solidFill>
          <a:ln/>
        </p:spPr>
      </p:sp>
      <p:sp>
        <p:nvSpPr>
          <p:cNvPr id="7" name="Text 5"/>
          <p:cNvSpPr txBox="1"/>
          <p:nvPr/>
        </p:nvSpPr>
        <p:spPr>
          <a:xfrm>
            <a:off x="7040880" y="1600200"/>
            <a:ext cx="1874520" cy="731520"/>
          </a:xfrm>
          <a:prstGeom prst="rect">
            <a:avLst/>
          </a:prstGeom>
          <a:noFill/>
          <a:ln/>
        </p:spPr>
        <p:txBody>
          <a:bodyPr wrap="square" lIns="0" tIns="0" rIns="0" bIns="0" rtlCol="0" anchor="ctr"/>
          <a:lstStyle/>
          <a:p>
            <a:pPr indent="0" marL="0">
              <a:buNone/>
            </a:pPr>
            <a:r>
              <a:rPr lang="en-US" sz="1600" b="1" dirty="0">
                <a:solidFill>
                  <a:schemeClr val="bg1"/>
                </a:solidFill>
              </a:rPr>
              <a:t>Validate</a:t>
            </a:r>
            <a:endParaRPr lang="en-US" sz="1600" dirty="0"/>
          </a:p>
          <a:p>
            <a:pPr indent="0" marL="0">
              <a:buNone/>
            </a:pPr>
            <a:r>
              <a:rPr lang="en-US" sz="1200" dirty="0">
                <a:solidFill>
                  <a:schemeClr val="bg1"/>
                </a:solidFill>
              </a:rPr>
              <a:t>478 days</a:t>
            </a:r>
            <a:endParaRPr lang="en-US" sz="1600" dirty="0"/>
          </a:p>
        </p:txBody>
      </p:sp>
      <p:sp>
        <p:nvSpPr>
          <p:cNvPr id="8" name="Text 6"/>
          <p:cNvSpPr txBox="1"/>
          <p:nvPr/>
        </p:nvSpPr>
        <p:spPr>
          <a:xfrm>
            <a:off x="6858000" y="2468880"/>
            <a:ext cx="2240280" cy="320040"/>
          </a:xfrm>
          <a:prstGeom prst="rect">
            <a:avLst/>
          </a:prstGeom>
          <a:noFill/>
          <a:ln/>
        </p:spPr>
        <p:txBody>
          <a:bodyPr wrap="square" lIns="0" tIns="0" rIns="0" bIns="0" rtlCol="0" anchor="ctr"/>
          <a:lstStyle/>
          <a:p>
            <a:pPr algn="ctr" indent="0" marL="0">
              <a:buNone/>
            </a:pPr>
            <a:r>
              <a:rPr lang="en-US" sz="1200" dirty="0">
                <a:solidFill>
                  <a:schemeClr val="tx1"/>
                </a:solidFill>
              </a:rPr>
              <a:t>Nov 2022 – Oct 2024</a:t>
            </a:r>
            <a:endParaRPr lang="en-US" sz="1200" dirty="0"/>
          </a:p>
        </p:txBody>
      </p:sp>
      <p:sp>
        <p:nvSpPr>
          <p:cNvPr id="9" name="Test block"/>
          <p:cNvSpPr/>
          <p:nvPr/>
        </p:nvSpPr>
        <p:spPr>
          <a:xfrm>
            <a:off x="9372600" y="1554480"/>
            <a:ext cx="2240280" cy="822960"/>
          </a:xfrm>
          <a:prstGeom prst="roundRect">
            <a:avLst>
              <a:gd name="adj" fmla="val 11111"/>
            </a:avLst>
          </a:prstGeom>
          <a:solidFill>
            <a:schemeClr val="accent2"/>
          </a:solidFill>
          <a:ln/>
        </p:spPr>
      </p:sp>
      <p:sp>
        <p:nvSpPr>
          <p:cNvPr id="10" name="Text 8"/>
          <p:cNvSpPr txBox="1"/>
          <p:nvPr/>
        </p:nvSpPr>
        <p:spPr>
          <a:xfrm>
            <a:off x="9555480" y="1600200"/>
            <a:ext cx="1874520" cy="731520"/>
          </a:xfrm>
          <a:prstGeom prst="rect">
            <a:avLst/>
          </a:prstGeom>
          <a:noFill/>
          <a:ln/>
        </p:spPr>
        <p:txBody>
          <a:bodyPr wrap="square" lIns="0" tIns="0" rIns="0" bIns="0" rtlCol="0" anchor="ctr"/>
          <a:lstStyle/>
          <a:p>
            <a:pPr indent="0" marL="0">
              <a:buNone/>
            </a:pPr>
            <a:r>
              <a:rPr lang="en-US" sz="1600" b="1" dirty="0">
                <a:solidFill>
                  <a:schemeClr val="bg1"/>
                </a:solidFill>
              </a:rPr>
              <a:t>Test</a:t>
            </a:r>
            <a:endParaRPr lang="en-US" sz="1600" dirty="0"/>
          </a:p>
          <a:p>
            <a:pPr indent="0" marL="0">
              <a:buNone/>
            </a:pPr>
            <a:r>
              <a:rPr lang="en-US" sz="1200" dirty="0">
                <a:solidFill>
                  <a:schemeClr val="bg1"/>
                </a:solidFill>
              </a:rPr>
              <a:t>483 days</a:t>
            </a:r>
            <a:endParaRPr lang="en-US" sz="1600" dirty="0"/>
          </a:p>
        </p:txBody>
      </p:sp>
      <p:sp>
        <p:nvSpPr>
          <p:cNvPr id="11" name="Text 9"/>
          <p:cNvSpPr txBox="1"/>
          <p:nvPr/>
        </p:nvSpPr>
        <p:spPr>
          <a:xfrm>
            <a:off x="9372600" y="2468880"/>
            <a:ext cx="2240280" cy="320040"/>
          </a:xfrm>
          <a:prstGeom prst="rect">
            <a:avLst/>
          </a:prstGeom>
          <a:noFill/>
          <a:ln/>
        </p:spPr>
        <p:txBody>
          <a:bodyPr wrap="square" lIns="0" tIns="0" rIns="0" bIns="0" rtlCol="0" anchor="ctr"/>
          <a:lstStyle/>
          <a:p>
            <a:pPr algn="ctr" indent="0" marL="0">
              <a:buNone/>
            </a:pPr>
            <a:r>
              <a:rPr lang="en-US" sz="1200" dirty="0">
                <a:solidFill>
                  <a:schemeClr val="tx1"/>
                </a:solidFill>
              </a:rPr>
              <a:t>Oct 2024 – Oct 2026</a:t>
            </a:r>
            <a:endParaRPr lang="en-US" sz="1200" dirty="0"/>
          </a:p>
        </p:txBody>
      </p:sp>
      <p:sp>
        <p:nvSpPr>
          <p:cNvPr id="12" name="Text 10"/>
          <p:cNvSpPr txBox="1"/>
          <p:nvPr/>
        </p:nvSpPr>
        <p:spPr>
          <a:xfrm>
            <a:off x="6583680" y="1783080"/>
            <a:ext cx="274320" cy="365760"/>
          </a:xfrm>
          <a:prstGeom prst="rect">
            <a:avLst/>
          </a:prstGeom>
          <a:noFill/>
          <a:ln/>
        </p:spPr>
        <p:txBody>
          <a:bodyPr wrap="square" lIns="0" tIns="0" rIns="0" bIns="0" rtlCol="0" anchor="ctr"/>
          <a:lstStyle/>
          <a:p>
            <a:pPr algn="ctr" indent="0" marL="0">
              <a:buNone/>
            </a:pPr>
            <a:r>
              <a:rPr lang="en-US" sz="900" dirty="0">
                <a:solidFill>
                  <a:schemeClr val="accent3"/>
                </a:solidFill>
              </a:rPr>
              <a:t>gap</a:t>
            </a:r>
            <a:endParaRPr lang="en-US" sz="900" dirty="0"/>
          </a:p>
        </p:txBody>
      </p:sp>
      <p:sp>
        <p:nvSpPr>
          <p:cNvPr id="13" name="Text 11"/>
          <p:cNvSpPr txBox="1"/>
          <p:nvPr/>
        </p:nvSpPr>
        <p:spPr>
          <a:xfrm>
            <a:off x="9098280" y="1783080"/>
            <a:ext cx="274320" cy="365760"/>
          </a:xfrm>
          <a:prstGeom prst="rect">
            <a:avLst/>
          </a:prstGeom>
          <a:noFill/>
          <a:ln/>
        </p:spPr>
        <p:txBody>
          <a:bodyPr wrap="square" lIns="0" tIns="0" rIns="0" bIns="0" rtlCol="0" anchor="ctr"/>
          <a:lstStyle/>
          <a:p>
            <a:pPr algn="ctr" indent="0" marL="0">
              <a:buNone/>
            </a:pPr>
            <a:r>
              <a:rPr lang="en-US" sz="900" dirty="0">
                <a:solidFill>
                  <a:schemeClr val="accent3"/>
                </a:solidFill>
              </a:rPr>
              <a:t>gap</a:t>
            </a:r>
            <a:endParaRPr lang="en-US" sz="900" dirty="0"/>
          </a:p>
        </p:txBody>
      </p:sp>
      <p:sp>
        <p:nvSpPr>
          <p:cNvPr id="14" name="Rule 1 circle"/>
          <p:cNvSpPr/>
          <p:nvPr/>
        </p:nvSpPr>
        <p:spPr>
          <a:xfrm>
            <a:off x="548640" y="3246120"/>
            <a:ext cx="640080" cy="640080"/>
          </a:xfrm>
          <a:prstGeom prst="ellipse">
            <a:avLst/>
          </a:prstGeom>
          <a:solidFill>
            <a:schemeClr val="accent1"/>
          </a:solidFill>
          <a:ln/>
        </p:spPr>
      </p:sp>
      <p:pic>
        <p:nvPicPr>
          <p:cNvPr id="15" name="Rule 1 icon" descr="preencoded.png">    </p:cNvPr>
          <p:cNvPicPr>
            <a:picLocks noChangeAspect="1"/>
          </p:cNvPicPr>
          <p:nvPr/>
        </p:nvPicPr>
        <p:blipFill>
          <a:blip r:embed="rId1"/>
          <a:stretch>
            <a:fillRect/>
          </a:stretch>
        </p:blipFill>
        <p:spPr>
          <a:xfrm>
            <a:off x="708660" y="3406140"/>
            <a:ext cx="320040" cy="320040"/>
          </a:xfrm>
          <a:prstGeom prst="rect">
            <a:avLst/>
          </a:prstGeom>
        </p:spPr>
      </p:pic>
      <p:sp>
        <p:nvSpPr>
          <p:cNvPr id="16" name="Text 13"/>
          <p:cNvSpPr txBox="1"/>
          <p:nvPr/>
        </p:nvSpPr>
        <p:spPr>
          <a:xfrm>
            <a:off x="1325880" y="3246120"/>
            <a:ext cx="2743200" cy="365760"/>
          </a:xfrm>
          <a:prstGeom prst="rect">
            <a:avLst/>
          </a:prstGeom>
          <a:noFill/>
          <a:ln/>
        </p:spPr>
        <p:txBody>
          <a:bodyPr wrap="square" lIns="0" tIns="0" rIns="0" bIns="0" rtlCol="0" anchor="ctr"/>
          <a:lstStyle/>
          <a:p>
            <a:pPr indent="0" marL="0">
              <a:buNone/>
            </a:pPr>
            <a:r>
              <a:rPr lang="en-US" sz="1600" b="1" dirty="0">
                <a:solidFill>
                  <a:schemeClr val="tx2"/>
                </a:solidFill>
              </a:rPr>
              <a:t>No shuffling</a:t>
            </a:r>
            <a:endParaRPr lang="en-US" sz="1600" dirty="0"/>
          </a:p>
        </p:txBody>
      </p:sp>
      <p:sp>
        <p:nvSpPr>
          <p:cNvPr id="17" name="Text 14"/>
          <p:cNvSpPr txBox="1"/>
          <p:nvPr/>
        </p:nvSpPr>
        <p:spPr>
          <a:xfrm>
            <a:off x="1325880" y="3630168"/>
            <a:ext cx="2743200" cy="822960"/>
          </a:xfrm>
          <a:prstGeom prst="rect">
            <a:avLst/>
          </a:prstGeom>
          <a:noFill/>
          <a:ln/>
        </p:spPr>
        <p:txBody>
          <a:bodyPr wrap="square" lIns="0" tIns="0" rIns="0" bIns="0" rtlCol="0" anchor="t"/>
          <a:lstStyle/>
          <a:p>
            <a:pPr indent="0" marL="0">
              <a:buNone/>
            </a:pPr>
            <a:r>
              <a:rPr lang="en-US" sz="1300" dirty="0">
                <a:solidFill>
                  <a:schemeClr val="tx1"/>
                </a:solidFill>
              </a:rPr>
              <a:t>Shuffled data would let the model learn from 2025 to “predict” 2020.</a:t>
            </a:r>
            <a:endParaRPr lang="en-US" sz="1300" dirty="0"/>
          </a:p>
        </p:txBody>
      </p:sp>
      <p:sp>
        <p:nvSpPr>
          <p:cNvPr id="18" name="Rule 2 circle"/>
          <p:cNvSpPr/>
          <p:nvPr/>
        </p:nvSpPr>
        <p:spPr>
          <a:xfrm>
            <a:off x="4297680" y="3246120"/>
            <a:ext cx="640080" cy="640080"/>
          </a:xfrm>
          <a:prstGeom prst="ellipse">
            <a:avLst/>
          </a:prstGeom>
          <a:solidFill>
            <a:schemeClr val="accent1"/>
          </a:solidFill>
          <a:ln/>
        </p:spPr>
      </p:sp>
      <p:pic>
        <p:nvPicPr>
          <p:cNvPr id="19" name="Rule 2 icon" descr="preencoded.png">    </p:cNvPr>
          <p:cNvPicPr>
            <a:picLocks noChangeAspect="1"/>
          </p:cNvPicPr>
          <p:nvPr/>
        </p:nvPicPr>
        <p:blipFill>
          <a:blip r:embed="rId2"/>
          <a:stretch>
            <a:fillRect/>
          </a:stretch>
        </p:blipFill>
        <p:spPr>
          <a:xfrm>
            <a:off x="4457700" y="3406140"/>
            <a:ext cx="320040" cy="320040"/>
          </a:xfrm>
          <a:prstGeom prst="rect">
            <a:avLst/>
          </a:prstGeom>
        </p:spPr>
      </p:pic>
      <p:sp>
        <p:nvSpPr>
          <p:cNvPr id="20" name="Text 16"/>
          <p:cNvSpPr txBox="1"/>
          <p:nvPr/>
        </p:nvSpPr>
        <p:spPr>
          <a:xfrm>
            <a:off x="5074920" y="3246120"/>
            <a:ext cx="2743200" cy="365760"/>
          </a:xfrm>
          <a:prstGeom prst="rect">
            <a:avLst/>
          </a:prstGeom>
          <a:noFill/>
          <a:ln/>
        </p:spPr>
        <p:txBody>
          <a:bodyPr wrap="square" lIns="0" tIns="0" rIns="0" bIns="0" rtlCol="0" anchor="ctr"/>
          <a:lstStyle/>
          <a:p>
            <a:pPr indent="0" marL="0">
              <a:buNone/>
            </a:pPr>
            <a:r>
              <a:rPr lang="en-US" sz="1600" b="1" dirty="0">
                <a:solidFill>
                  <a:schemeClr val="tx2"/>
                </a:solidFill>
              </a:rPr>
              <a:t>5-day gap at each boundary</a:t>
            </a:r>
            <a:endParaRPr lang="en-US" sz="1600" dirty="0"/>
          </a:p>
        </p:txBody>
      </p:sp>
      <p:sp>
        <p:nvSpPr>
          <p:cNvPr id="21" name="Text 17"/>
          <p:cNvSpPr txBox="1"/>
          <p:nvPr/>
        </p:nvSpPr>
        <p:spPr>
          <a:xfrm>
            <a:off x="5074920" y="3630168"/>
            <a:ext cx="2743200" cy="822960"/>
          </a:xfrm>
          <a:prstGeom prst="rect">
            <a:avLst/>
          </a:prstGeom>
          <a:noFill/>
          <a:ln/>
        </p:spPr>
        <p:txBody>
          <a:bodyPr wrap="square" lIns="0" tIns="0" rIns="0" bIns="0" rtlCol="0" anchor="t"/>
          <a:lstStyle/>
          <a:p>
            <a:pPr indent="0" marL="0">
              <a:buNone/>
            </a:pPr>
            <a:r>
              <a:rPr lang="en-US" sz="1300" dirty="0">
                <a:solidFill>
                  <a:schemeClr val="tx1"/>
                </a:solidFill>
              </a:rPr>
              <a:t>The last training targets look 5 days ahead, so those rows are dropped.</a:t>
            </a:r>
            <a:endParaRPr lang="en-US" sz="1300" dirty="0"/>
          </a:p>
        </p:txBody>
      </p:sp>
      <p:sp>
        <p:nvSpPr>
          <p:cNvPr id="22" name="Rule 3 circle"/>
          <p:cNvSpPr/>
          <p:nvPr/>
        </p:nvSpPr>
        <p:spPr>
          <a:xfrm>
            <a:off x="8046720" y="3246120"/>
            <a:ext cx="640080" cy="640080"/>
          </a:xfrm>
          <a:prstGeom prst="ellipse">
            <a:avLst/>
          </a:prstGeom>
          <a:solidFill>
            <a:schemeClr val="accent1"/>
          </a:solidFill>
          <a:ln/>
        </p:spPr>
      </p:sp>
      <p:pic>
        <p:nvPicPr>
          <p:cNvPr id="23" name="Rule 3 icon" descr="preencoded.png">    </p:cNvPr>
          <p:cNvPicPr>
            <a:picLocks noChangeAspect="1"/>
          </p:cNvPicPr>
          <p:nvPr/>
        </p:nvPicPr>
        <p:blipFill>
          <a:blip r:embed="rId3"/>
          <a:stretch>
            <a:fillRect/>
          </a:stretch>
        </p:blipFill>
        <p:spPr>
          <a:xfrm>
            <a:off x="8206740" y="3406140"/>
            <a:ext cx="320040" cy="320040"/>
          </a:xfrm>
          <a:prstGeom prst="rect">
            <a:avLst/>
          </a:prstGeom>
        </p:spPr>
      </p:pic>
      <p:sp>
        <p:nvSpPr>
          <p:cNvPr id="24" name="Text 19"/>
          <p:cNvSpPr txBox="1"/>
          <p:nvPr/>
        </p:nvSpPr>
        <p:spPr>
          <a:xfrm>
            <a:off x="8823960" y="3246120"/>
            <a:ext cx="2743200" cy="365760"/>
          </a:xfrm>
          <a:prstGeom prst="rect">
            <a:avLst/>
          </a:prstGeom>
          <a:noFill/>
          <a:ln/>
        </p:spPr>
        <p:txBody>
          <a:bodyPr wrap="square" lIns="0" tIns="0" rIns="0" bIns="0" rtlCol="0" anchor="ctr"/>
          <a:lstStyle/>
          <a:p>
            <a:pPr indent="0" marL="0">
              <a:buNone/>
            </a:pPr>
            <a:r>
              <a:rPr lang="en-US" sz="1600" b="1" dirty="0">
                <a:solidFill>
                  <a:schemeClr val="tx2"/>
                </a:solidFill>
              </a:rPr>
              <a:t>Test set used once</a:t>
            </a:r>
            <a:endParaRPr lang="en-US" sz="1600" dirty="0"/>
          </a:p>
        </p:txBody>
      </p:sp>
      <p:sp>
        <p:nvSpPr>
          <p:cNvPr id="25" name="Text 20"/>
          <p:cNvSpPr txBox="1"/>
          <p:nvPr/>
        </p:nvSpPr>
        <p:spPr>
          <a:xfrm>
            <a:off x="8823960" y="3630168"/>
            <a:ext cx="2743200" cy="822960"/>
          </a:xfrm>
          <a:prstGeom prst="rect">
            <a:avLst/>
          </a:prstGeom>
          <a:noFill/>
          <a:ln/>
        </p:spPr>
        <p:txBody>
          <a:bodyPr wrap="square" lIns="0" tIns="0" rIns="0" bIns="0" rtlCol="0" anchor="t"/>
          <a:lstStyle/>
          <a:p>
            <a:pPr indent="0" marL="0">
              <a:buNone/>
            </a:pPr>
            <a:r>
              <a:rPr lang="en-US" sz="1300" dirty="0">
                <a:solidFill>
                  <a:schemeClr val="tx1"/>
                </a:solidFill>
              </a:rPr>
              <a:t>Settings chosen on validation; the test period is only scored at the end.</a:t>
            </a:r>
            <a:endParaRPr lang="en-US" sz="1300" dirty="0"/>
          </a:p>
        </p:txBody>
      </p:sp>
      <p:sp>
        <p:nvSpPr>
          <p:cNvPr id="26" name="Robustness card"/>
          <p:cNvSpPr/>
          <p:nvPr/>
        </p:nvSpPr>
        <p:spPr>
          <a:xfrm>
            <a:off x="548640" y="4754880"/>
            <a:ext cx="11064240" cy="1097280"/>
          </a:xfrm>
          <a:prstGeom prst="roundRect">
            <a:avLst>
              <a:gd name="adj" fmla="val 10000"/>
            </a:avLst>
          </a:prstGeom>
          <a:solidFill>
            <a:schemeClr val="bg2"/>
          </a:solidFill>
          <a:ln/>
        </p:spPr>
      </p:sp>
      <p:sp>
        <p:nvSpPr>
          <p:cNvPr id="27" name="Text 22"/>
          <p:cNvSpPr txBox="1"/>
          <p:nvPr/>
        </p:nvSpPr>
        <p:spPr>
          <a:xfrm>
            <a:off x="822960" y="4892040"/>
            <a:ext cx="2194560" cy="365760"/>
          </a:xfrm>
          <a:prstGeom prst="rect">
            <a:avLst/>
          </a:prstGeom>
          <a:noFill/>
          <a:ln/>
        </p:spPr>
        <p:txBody>
          <a:bodyPr wrap="square" lIns="0" tIns="0" rIns="0" bIns="0" rtlCol="0" anchor="ctr"/>
          <a:lstStyle/>
          <a:p>
            <a:pPr indent="0" marL="0">
              <a:buNone/>
            </a:pPr>
            <a:r>
              <a:rPr lang="en-US" sz="1600" b="1" dirty="0">
                <a:solidFill>
                  <a:schemeClr val="tx2"/>
                </a:solidFill>
              </a:rPr>
              <a:t>Extra checks</a:t>
            </a:r>
            <a:endParaRPr lang="en-US" sz="1600" dirty="0"/>
          </a:p>
        </p:txBody>
      </p:sp>
      <p:sp>
        <p:nvSpPr>
          <p:cNvPr id="28" name="Text 23"/>
          <p:cNvSpPr txBox="1"/>
          <p:nvPr/>
        </p:nvSpPr>
        <p:spPr>
          <a:xfrm>
            <a:off x="3017520" y="4892040"/>
            <a:ext cx="2743200" cy="960120"/>
          </a:xfrm>
          <a:prstGeom prst="rect">
            <a:avLst/>
          </a:prstGeom>
          <a:noFill/>
          <a:ln/>
        </p:spPr>
        <p:txBody>
          <a:bodyPr wrap="square" lIns="0" tIns="0" rIns="0" bIns="0" rtlCol="0" anchor="t"/>
          <a:lstStyle/>
          <a:p>
            <a:pPr indent="0" marL="0">
              <a:buNone/>
            </a:pPr>
            <a:r>
              <a:rPr lang="en-US" sz="1300" b="1" dirty="0">
                <a:solidFill>
                  <a:schemeClr val="tx2"/>
                </a:solidFill>
              </a:rPr>
              <a:t>With vs without suppliers</a:t>
            </a:r>
            <a:endParaRPr lang="en-US" sz="1300" dirty="0"/>
          </a:p>
          <a:p>
            <a:pPr indent="0" marL="0">
              <a:buNone/>
            </a:pPr>
            <a:r>
              <a:rPr lang="en-US" sz="1300" dirty="0">
                <a:solidFill>
                  <a:schemeClr val="tx1"/>
                </a:solidFill>
              </a:rPr>
              <a:t>same model, same test period</a:t>
            </a:r>
            <a:endParaRPr lang="en-US" sz="1300" dirty="0"/>
          </a:p>
        </p:txBody>
      </p:sp>
      <p:sp>
        <p:nvSpPr>
          <p:cNvPr id="29" name="Text 24"/>
          <p:cNvSpPr txBox="1"/>
          <p:nvPr/>
        </p:nvSpPr>
        <p:spPr>
          <a:xfrm>
            <a:off x="5897880" y="4892040"/>
            <a:ext cx="2743200" cy="960120"/>
          </a:xfrm>
          <a:prstGeom prst="rect">
            <a:avLst/>
          </a:prstGeom>
          <a:noFill/>
          <a:ln/>
        </p:spPr>
        <p:txBody>
          <a:bodyPr wrap="square" lIns="0" tIns="0" rIns="0" bIns="0" rtlCol="0" anchor="t"/>
          <a:lstStyle/>
          <a:p>
            <a:pPr indent="0" marL="0">
              <a:buNone/>
            </a:pPr>
            <a:r>
              <a:rPr lang="en-US" sz="1300" b="1" dirty="0">
                <a:solidFill>
                  <a:schemeClr val="tx2"/>
                </a:solidFill>
              </a:rPr>
              <a:t>Walk-forward</a:t>
            </a:r>
            <a:endParaRPr lang="en-US" sz="1300" dirty="0"/>
          </a:p>
          <a:p>
            <a:pPr indent="0" marL="0">
              <a:buNone/>
            </a:pPr>
            <a:r>
              <a:rPr lang="en-US" sz="1300" dirty="0">
                <a:solidFill>
                  <a:schemeClr val="tx1"/>
                </a:solidFill>
              </a:rPr>
              <a:t>5 separate test years, retrained each time</a:t>
            </a:r>
            <a:endParaRPr lang="en-US" sz="1300" dirty="0"/>
          </a:p>
        </p:txBody>
      </p:sp>
      <p:sp>
        <p:nvSpPr>
          <p:cNvPr id="30" name="Text 25"/>
          <p:cNvSpPr txBox="1"/>
          <p:nvPr/>
        </p:nvSpPr>
        <p:spPr>
          <a:xfrm>
            <a:off x="8778240" y="4892040"/>
            <a:ext cx="2743200" cy="960120"/>
          </a:xfrm>
          <a:prstGeom prst="rect">
            <a:avLst/>
          </a:prstGeom>
          <a:noFill/>
          <a:ln/>
        </p:spPr>
        <p:txBody>
          <a:bodyPr wrap="square" lIns="0" tIns="0" rIns="0" bIns="0" rtlCol="0" anchor="t"/>
          <a:lstStyle/>
          <a:p>
            <a:pPr indent="0" marL="0">
              <a:buNone/>
            </a:pPr>
            <a:r>
              <a:rPr lang="en-US" sz="1300" b="1" dirty="0">
                <a:solidFill>
                  <a:schemeClr val="tx2"/>
                </a:solidFill>
              </a:rPr>
              <a:t>Horizons</a:t>
            </a:r>
            <a:endParaRPr lang="en-US" sz="1300" dirty="0"/>
          </a:p>
          <a:p>
            <a:pPr indent="0" marL="0">
              <a:buNone/>
            </a:pPr>
            <a:r>
              <a:rPr lang="en-US" sz="1300" dirty="0">
                <a:solidFill>
                  <a:schemeClr val="tx1"/>
                </a:solidFill>
              </a:rPr>
              <a:t>1, 5 and 20 days ahead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Only one model beat guessing “no change”</a:t>
            </a:r>
            <a:endParaRPr lang="en-US" sz="3600" dirty="0"/>
          </a:p>
        </p:txBody>
      </p:sp>
      <p:graphicFrame>
        <p:nvGraphicFramePr>
          <p:cNvPr id="3" name="RMSE chart" descr=""/>
          <p:cNvGraphicFramePr/>
          <p:nvPr/>
        </p:nvGraphicFramePr>
        <p:xfrm>
          <a:off x="548640" y="1280160"/>
          <a:ext cx="6949440" cy="48006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6080760"/>
            <a:ext cx="6949440" cy="274320"/>
          </a:xfrm>
          <a:prstGeom prst="rect">
            <a:avLst/>
          </a:prstGeom>
          <a:noFill/>
          <a:ln/>
        </p:spPr>
        <p:txBody>
          <a:bodyPr wrap="square" lIns="0" tIns="0" rIns="0" bIns="0" rtlCol="0" anchor="ctr"/>
          <a:lstStyle/>
          <a:p>
            <a:pPr indent="0" marL="0">
              <a:buNone/>
            </a:pPr>
            <a:r>
              <a:rPr lang="en-US" sz="1000" i="1" dirty="0">
                <a:solidFill>
                  <a:schemeClr val="accent3"/>
                </a:solidFill>
              </a:rPr>
              <a:t>Axis starts at 3.30% to make small gaps visible.</a:t>
            </a:r>
            <a:endParaRPr lang="en-US" sz="1000" dirty="0"/>
          </a:p>
        </p:txBody>
      </p:sp>
      <p:sp>
        <p:nvSpPr>
          <p:cNvPr id="5" name="Text 2"/>
          <p:cNvSpPr txBox="1"/>
          <p:nvPr/>
        </p:nvSpPr>
        <p:spPr>
          <a:xfrm>
            <a:off x="7863840" y="1371600"/>
            <a:ext cx="374904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3.356%</a:t>
            </a:r>
            <a:endParaRPr lang="en-US" sz="3200" dirty="0"/>
          </a:p>
        </p:txBody>
      </p:sp>
      <p:sp>
        <p:nvSpPr>
          <p:cNvPr id="6" name="Text 3"/>
          <p:cNvSpPr txBox="1"/>
          <p:nvPr/>
        </p:nvSpPr>
        <p:spPr>
          <a:xfrm>
            <a:off x="7863840" y="1965960"/>
            <a:ext cx="3749040" cy="868680"/>
          </a:xfrm>
          <a:prstGeom prst="rect">
            <a:avLst/>
          </a:prstGeom>
          <a:noFill/>
          <a:ln/>
        </p:spPr>
        <p:txBody>
          <a:bodyPr wrap="square" lIns="0" tIns="0" rIns="0" bIns="0" rtlCol="0" anchor="t"/>
          <a:lstStyle/>
          <a:p>
            <a:pPr indent="0" marL="0">
              <a:buNone/>
            </a:pPr>
            <a:r>
              <a:rPr lang="en-US" sz="1300" dirty="0">
                <a:solidFill>
                  <a:schemeClr val="tx1"/>
                </a:solidFill>
              </a:rPr>
              <a:t>Random Forest with suppliers: the only model below predict-0 (3.375%), about 1% better</a:t>
            </a:r>
            <a:endParaRPr lang="en-US" sz="1300" dirty="0"/>
          </a:p>
        </p:txBody>
      </p:sp>
      <p:sp>
        <p:nvSpPr>
          <p:cNvPr id="7" name="Text 4"/>
          <p:cNvSpPr txBox="1"/>
          <p:nvPr/>
        </p:nvSpPr>
        <p:spPr>
          <a:xfrm>
            <a:off x="7863840" y="2971800"/>
            <a:ext cx="3749040" cy="5943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2 of 4</a:t>
            </a:r>
            <a:endParaRPr lang="en-US" sz="3200" dirty="0"/>
          </a:p>
        </p:txBody>
      </p:sp>
      <p:sp>
        <p:nvSpPr>
          <p:cNvPr id="8" name="Text 5"/>
          <p:cNvSpPr txBox="1"/>
          <p:nvPr/>
        </p:nvSpPr>
        <p:spPr>
          <a:xfrm>
            <a:off x="7863840" y="3566160"/>
            <a:ext cx="3749040" cy="868680"/>
          </a:xfrm>
          <a:prstGeom prst="rect">
            <a:avLst/>
          </a:prstGeom>
          <a:noFill/>
          <a:ln/>
        </p:spPr>
        <p:txBody>
          <a:bodyPr wrap="square" lIns="0" tIns="0" rIns="0" bIns="0" rtlCol="0" anchor="t"/>
          <a:lstStyle/>
          <a:p>
            <a:pPr indent="0" marL="0">
              <a:buNone/>
            </a:pPr>
            <a:r>
              <a:rPr lang="en-US" sz="1300" dirty="0">
                <a:solidFill>
                  <a:schemeClr val="tx1"/>
                </a:solidFill>
              </a:rPr>
              <a:t>models improved with supplier data (Random Forest, Gradient Boosting). Elastic Net and the tree ignored it.</a:t>
            </a:r>
            <a:endParaRPr lang="en-US" sz="1300" dirty="0"/>
          </a:p>
        </p:txBody>
      </p:sp>
      <p:sp>
        <p:nvSpPr>
          <p:cNvPr id="9" name="Text 6"/>
          <p:cNvSpPr txBox="1"/>
          <p:nvPr/>
        </p:nvSpPr>
        <p:spPr>
          <a:xfrm>
            <a:off x="7863840" y="4572000"/>
            <a:ext cx="3749040" cy="594360"/>
          </a:xfrm>
          <a:prstGeom prst="rect">
            <a:avLst/>
          </a:prstGeom>
          <a:noFill/>
          <a:ln/>
        </p:spPr>
        <p:txBody>
          <a:bodyPr wrap="square" lIns="0" tIns="0" rIns="0" bIns="0" rtlCol="0" anchor="ctr"/>
          <a:lstStyle/>
          <a:p>
            <a:pPr indent="0" marL="0">
              <a:buNone/>
            </a:pPr>
            <a:r>
              <a:rPr lang="en-US" sz="3200" b="1" dirty="0">
                <a:solidFill>
                  <a:schemeClr val="accent4"/>
                </a:solidFill>
                <a:latin typeface="Cambria" pitchFamily="34" charset="0"/>
                <a:ea typeface="Cambria" pitchFamily="34" charset="-122"/>
                <a:cs typeface="Cambria" pitchFamily="34" charset="-120"/>
              </a:rPr>
              <a:t>Worst</a:t>
            </a:r>
            <a:endParaRPr lang="en-US" sz="3200" dirty="0"/>
          </a:p>
        </p:txBody>
      </p:sp>
      <p:sp>
        <p:nvSpPr>
          <p:cNvPr id="10" name="Text 7"/>
          <p:cNvSpPr txBox="1"/>
          <p:nvPr/>
        </p:nvSpPr>
        <p:spPr>
          <a:xfrm>
            <a:off x="7863840" y="5166360"/>
            <a:ext cx="3749040" cy="868680"/>
          </a:xfrm>
          <a:prstGeom prst="rect">
            <a:avLst/>
          </a:prstGeom>
          <a:noFill/>
          <a:ln/>
        </p:spPr>
        <p:txBody>
          <a:bodyPr wrap="square" lIns="0" tIns="0" rIns="0" bIns="0" rtlCol="0" anchor="t"/>
          <a:lstStyle/>
          <a:p>
            <a:pPr indent="0" marL="0">
              <a:buNone/>
            </a:pPr>
            <a:r>
              <a:rPr lang="en-US" sz="1300" dirty="0">
                <a:solidFill>
                  <a:schemeClr val="tx1"/>
                </a:solidFill>
              </a:rPr>
              <a:t>on test: the Decision Tree, which won on validation by 0.004 pts. Small gaps are noise.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Does it hold up over time?</a:t>
            </a:r>
            <a:endParaRPr lang="en-US" sz="3600" dirty="0"/>
          </a:p>
        </p:txBody>
      </p:sp>
      <p:sp>
        <p:nvSpPr>
          <p:cNvPr id="3" name="Walk-forward card"/>
          <p:cNvSpPr/>
          <p:nvPr/>
        </p:nvSpPr>
        <p:spPr>
          <a:xfrm>
            <a:off x="548640" y="1325880"/>
            <a:ext cx="5303520" cy="4754880"/>
          </a:xfrm>
          <a:prstGeom prst="roundRect">
            <a:avLst>
              <a:gd name="adj" fmla="val 2308"/>
            </a:avLst>
          </a:prstGeom>
          <a:solidFill>
            <a:schemeClr val="bg2"/>
          </a:solidFill>
          <a:ln/>
        </p:spPr>
      </p:sp>
      <p:sp>
        <p:nvSpPr>
          <p:cNvPr id="4" name="Text 2"/>
          <p:cNvSpPr txBox="1"/>
          <p:nvPr/>
        </p:nvSpPr>
        <p:spPr>
          <a:xfrm>
            <a:off x="868680" y="1508760"/>
            <a:ext cx="4754880" cy="411480"/>
          </a:xfrm>
          <a:prstGeom prst="rect">
            <a:avLst/>
          </a:prstGeom>
          <a:noFill/>
          <a:ln/>
        </p:spPr>
        <p:txBody>
          <a:bodyPr wrap="square" lIns="0" tIns="0" rIns="0" bIns="0" rtlCol="0" anchor="ctr"/>
          <a:lstStyle/>
          <a:p>
            <a:pPr indent="0" marL="0">
              <a:buNone/>
            </a:pPr>
            <a:r>
              <a:rPr lang="en-US" sz="1800" b="1" dirty="0">
                <a:solidFill>
                  <a:schemeClr val="tx2"/>
                </a:solidFill>
              </a:rPr>
              <a:t>Walk-forward: 5 separate test years</a:t>
            </a:r>
            <a:endParaRPr lang="en-US" sz="1800" dirty="0"/>
          </a:p>
        </p:txBody>
      </p:sp>
      <p:sp>
        <p:nvSpPr>
          <p:cNvPr id="5" name="Text 3"/>
          <p:cNvSpPr txBox="1"/>
          <p:nvPr/>
        </p:nvSpPr>
        <p:spPr>
          <a:xfrm>
            <a:off x="868680" y="2011680"/>
            <a:ext cx="4754880" cy="320040"/>
          </a:xfrm>
          <a:prstGeom prst="rect">
            <a:avLst/>
          </a:prstGeom>
          <a:noFill/>
          <a:ln/>
        </p:spPr>
        <p:txBody>
          <a:bodyPr wrap="square" lIns="0" tIns="0" rIns="0" bIns="0" rtlCol="0" anchor="ctr"/>
          <a:lstStyle/>
          <a:p>
            <a:pPr indent="0" marL="0">
              <a:buNone/>
            </a:pPr>
            <a:r>
              <a:rPr lang="en-US" sz="1300" dirty="0">
                <a:solidFill>
                  <a:schemeClr val="tx1"/>
                </a:solidFill>
              </a:rPr>
              <a:t>Years where the model beat predict-0</a:t>
            </a:r>
            <a:endParaRPr lang="en-US" sz="1300" dirty="0"/>
          </a:p>
        </p:txBody>
      </p:sp>
      <p:sp>
        <p:nvSpPr>
          <p:cNvPr id="6" name="Text 4"/>
          <p:cNvSpPr txBox="1"/>
          <p:nvPr/>
        </p:nvSpPr>
        <p:spPr>
          <a:xfrm>
            <a:off x="868680" y="2514600"/>
            <a:ext cx="2103120" cy="411480"/>
          </a:xfrm>
          <a:prstGeom prst="rect">
            <a:avLst/>
          </a:prstGeom>
          <a:noFill/>
          <a:ln/>
        </p:spPr>
        <p:txBody>
          <a:bodyPr wrap="square" lIns="0" tIns="0" rIns="0" bIns="0" rtlCol="0" anchor="ctr"/>
          <a:lstStyle/>
          <a:p>
            <a:pPr indent="0" marL="0">
              <a:buNone/>
            </a:pPr>
            <a:r>
              <a:rPr lang="en-US" sz="1400" b="1" dirty="0">
                <a:solidFill>
                  <a:schemeClr val="tx2"/>
                </a:solidFill>
              </a:rPr>
              <a:t>Random Forest</a:t>
            </a:r>
            <a:endParaRPr lang="en-US" sz="1400" dirty="0"/>
          </a:p>
        </p:txBody>
      </p:sp>
      <p:sp>
        <p:nvSpPr>
          <p:cNvPr id="7" name="Random Forest year 1"/>
          <p:cNvSpPr/>
          <p:nvPr/>
        </p:nvSpPr>
        <p:spPr>
          <a:xfrm>
            <a:off x="3063240" y="2578608"/>
            <a:ext cx="292608" cy="292608"/>
          </a:xfrm>
          <a:prstGeom prst="ellipse">
            <a:avLst/>
          </a:prstGeom>
          <a:solidFill>
            <a:schemeClr val="accent2"/>
          </a:solidFill>
          <a:ln w="9525">
            <a:solidFill>
              <a:srgbClr val="8D99AE"/>
            </a:solidFill>
            <a:prstDash val="solid"/>
          </a:ln>
        </p:spPr>
      </p:sp>
      <p:sp>
        <p:nvSpPr>
          <p:cNvPr id="8" name="Random Forest year 2"/>
          <p:cNvSpPr/>
          <p:nvPr/>
        </p:nvSpPr>
        <p:spPr>
          <a:xfrm>
            <a:off x="3520440" y="2578608"/>
            <a:ext cx="292608" cy="292608"/>
          </a:xfrm>
          <a:prstGeom prst="ellipse">
            <a:avLst/>
          </a:prstGeom>
          <a:solidFill>
            <a:schemeClr val="accent2"/>
          </a:solidFill>
          <a:ln w="9525">
            <a:solidFill>
              <a:srgbClr val="8D99AE"/>
            </a:solidFill>
            <a:prstDash val="solid"/>
          </a:ln>
        </p:spPr>
      </p:sp>
      <p:sp>
        <p:nvSpPr>
          <p:cNvPr id="9" name="Random Forest year 3"/>
          <p:cNvSpPr/>
          <p:nvPr/>
        </p:nvSpPr>
        <p:spPr>
          <a:xfrm>
            <a:off x="3977640" y="2578608"/>
            <a:ext cx="292608" cy="292608"/>
          </a:xfrm>
          <a:prstGeom prst="ellipse">
            <a:avLst/>
          </a:prstGeom>
          <a:solidFill>
            <a:schemeClr val="bg1"/>
          </a:solidFill>
          <a:ln w="9525">
            <a:solidFill>
              <a:srgbClr val="8D99AE"/>
            </a:solidFill>
            <a:prstDash val="solid"/>
          </a:ln>
        </p:spPr>
      </p:sp>
      <p:sp>
        <p:nvSpPr>
          <p:cNvPr id="10" name="Random Forest year 4"/>
          <p:cNvSpPr/>
          <p:nvPr/>
        </p:nvSpPr>
        <p:spPr>
          <a:xfrm>
            <a:off x="4434840" y="2578608"/>
            <a:ext cx="292608" cy="292608"/>
          </a:xfrm>
          <a:prstGeom prst="ellipse">
            <a:avLst/>
          </a:prstGeom>
          <a:solidFill>
            <a:schemeClr val="bg1"/>
          </a:solidFill>
          <a:ln w="9525">
            <a:solidFill>
              <a:srgbClr val="8D99AE"/>
            </a:solidFill>
            <a:prstDash val="solid"/>
          </a:ln>
        </p:spPr>
      </p:sp>
      <p:sp>
        <p:nvSpPr>
          <p:cNvPr id="11" name="Random Forest year 5"/>
          <p:cNvSpPr/>
          <p:nvPr/>
        </p:nvSpPr>
        <p:spPr>
          <a:xfrm>
            <a:off x="4892040" y="2578608"/>
            <a:ext cx="292608" cy="292608"/>
          </a:xfrm>
          <a:prstGeom prst="ellipse">
            <a:avLst/>
          </a:prstGeom>
          <a:solidFill>
            <a:schemeClr val="bg1"/>
          </a:solidFill>
          <a:ln w="9525">
            <a:solidFill>
              <a:srgbClr val="8D99AE"/>
            </a:solidFill>
            <a:prstDash val="solid"/>
          </a:ln>
        </p:spPr>
      </p:sp>
      <p:sp>
        <p:nvSpPr>
          <p:cNvPr id="12" name="Text 10"/>
          <p:cNvSpPr txBox="1"/>
          <p:nvPr/>
        </p:nvSpPr>
        <p:spPr>
          <a:xfrm>
            <a:off x="5212080" y="2514600"/>
            <a:ext cx="548640" cy="411480"/>
          </a:xfrm>
          <a:prstGeom prst="rect">
            <a:avLst/>
          </a:prstGeom>
          <a:noFill/>
          <a:ln/>
        </p:spPr>
        <p:txBody>
          <a:bodyPr wrap="square" lIns="0" tIns="0" rIns="0" bIns="0" rtlCol="0" anchor="ctr"/>
          <a:lstStyle/>
          <a:p>
            <a:pPr algn="r" indent="0" marL="0">
              <a:buNone/>
            </a:pPr>
            <a:r>
              <a:rPr lang="en-US" sz="1300" dirty="0">
                <a:solidFill>
                  <a:schemeClr val="tx1"/>
                </a:solidFill>
              </a:rPr>
              <a:t>2 / 5</a:t>
            </a:r>
            <a:endParaRPr lang="en-US" sz="1300" dirty="0"/>
          </a:p>
        </p:txBody>
      </p:sp>
      <p:sp>
        <p:nvSpPr>
          <p:cNvPr id="13" name="Text 11"/>
          <p:cNvSpPr txBox="1"/>
          <p:nvPr/>
        </p:nvSpPr>
        <p:spPr>
          <a:xfrm>
            <a:off x="868680" y="3136392"/>
            <a:ext cx="2103120" cy="411480"/>
          </a:xfrm>
          <a:prstGeom prst="rect">
            <a:avLst/>
          </a:prstGeom>
          <a:noFill/>
          <a:ln/>
        </p:spPr>
        <p:txBody>
          <a:bodyPr wrap="square" lIns="0" tIns="0" rIns="0" bIns="0" rtlCol="0" anchor="ctr"/>
          <a:lstStyle/>
          <a:p>
            <a:pPr indent="0" marL="0">
              <a:buNone/>
            </a:pPr>
            <a:r>
              <a:rPr lang="en-US" sz="1400" b="1" dirty="0">
                <a:solidFill>
                  <a:schemeClr val="tx2"/>
                </a:solidFill>
              </a:rPr>
              <a:t>Gradient Boosting</a:t>
            </a:r>
            <a:endParaRPr lang="en-US" sz="1400" dirty="0"/>
          </a:p>
        </p:txBody>
      </p:sp>
      <p:sp>
        <p:nvSpPr>
          <p:cNvPr id="14" name="Gradient Boosting year 1"/>
          <p:cNvSpPr/>
          <p:nvPr/>
        </p:nvSpPr>
        <p:spPr>
          <a:xfrm>
            <a:off x="3063240" y="3200400"/>
            <a:ext cx="292608" cy="292608"/>
          </a:xfrm>
          <a:prstGeom prst="ellipse">
            <a:avLst/>
          </a:prstGeom>
          <a:solidFill>
            <a:schemeClr val="accent2"/>
          </a:solidFill>
          <a:ln w="9525">
            <a:solidFill>
              <a:srgbClr val="8D99AE"/>
            </a:solidFill>
            <a:prstDash val="solid"/>
          </a:ln>
        </p:spPr>
      </p:sp>
      <p:sp>
        <p:nvSpPr>
          <p:cNvPr id="15" name="Gradient Boosting year 2"/>
          <p:cNvSpPr/>
          <p:nvPr/>
        </p:nvSpPr>
        <p:spPr>
          <a:xfrm>
            <a:off x="3520440" y="3200400"/>
            <a:ext cx="292608" cy="292608"/>
          </a:xfrm>
          <a:prstGeom prst="ellipse">
            <a:avLst/>
          </a:prstGeom>
          <a:solidFill>
            <a:schemeClr val="accent2"/>
          </a:solidFill>
          <a:ln w="9525">
            <a:solidFill>
              <a:srgbClr val="8D99AE"/>
            </a:solidFill>
            <a:prstDash val="solid"/>
          </a:ln>
        </p:spPr>
      </p:sp>
      <p:sp>
        <p:nvSpPr>
          <p:cNvPr id="16" name="Gradient Boosting year 3"/>
          <p:cNvSpPr/>
          <p:nvPr/>
        </p:nvSpPr>
        <p:spPr>
          <a:xfrm>
            <a:off x="3977640" y="3200400"/>
            <a:ext cx="292608" cy="292608"/>
          </a:xfrm>
          <a:prstGeom prst="ellipse">
            <a:avLst/>
          </a:prstGeom>
          <a:solidFill>
            <a:schemeClr val="bg1"/>
          </a:solidFill>
          <a:ln w="9525">
            <a:solidFill>
              <a:srgbClr val="8D99AE"/>
            </a:solidFill>
            <a:prstDash val="solid"/>
          </a:ln>
        </p:spPr>
      </p:sp>
      <p:sp>
        <p:nvSpPr>
          <p:cNvPr id="17" name="Gradient Boosting year 4"/>
          <p:cNvSpPr/>
          <p:nvPr/>
        </p:nvSpPr>
        <p:spPr>
          <a:xfrm>
            <a:off x="4434840" y="3200400"/>
            <a:ext cx="292608" cy="292608"/>
          </a:xfrm>
          <a:prstGeom prst="ellipse">
            <a:avLst/>
          </a:prstGeom>
          <a:solidFill>
            <a:schemeClr val="bg1"/>
          </a:solidFill>
          <a:ln w="9525">
            <a:solidFill>
              <a:srgbClr val="8D99AE"/>
            </a:solidFill>
            <a:prstDash val="solid"/>
          </a:ln>
        </p:spPr>
      </p:sp>
      <p:sp>
        <p:nvSpPr>
          <p:cNvPr id="18" name="Gradient Boosting year 5"/>
          <p:cNvSpPr/>
          <p:nvPr/>
        </p:nvSpPr>
        <p:spPr>
          <a:xfrm>
            <a:off x="4892040" y="3200400"/>
            <a:ext cx="292608" cy="292608"/>
          </a:xfrm>
          <a:prstGeom prst="ellipse">
            <a:avLst/>
          </a:prstGeom>
          <a:solidFill>
            <a:schemeClr val="bg1"/>
          </a:solidFill>
          <a:ln w="9525">
            <a:solidFill>
              <a:srgbClr val="8D99AE"/>
            </a:solidFill>
            <a:prstDash val="solid"/>
          </a:ln>
        </p:spPr>
      </p:sp>
      <p:sp>
        <p:nvSpPr>
          <p:cNvPr id="19" name="Text 17"/>
          <p:cNvSpPr txBox="1"/>
          <p:nvPr/>
        </p:nvSpPr>
        <p:spPr>
          <a:xfrm>
            <a:off x="5212080" y="3136392"/>
            <a:ext cx="548640" cy="411480"/>
          </a:xfrm>
          <a:prstGeom prst="rect">
            <a:avLst/>
          </a:prstGeom>
          <a:noFill/>
          <a:ln/>
        </p:spPr>
        <p:txBody>
          <a:bodyPr wrap="square" lIns="0" tIns="0" rIns="0" bIns="0" rtlCol="0" anchor="ctr"/>
          <a:lstStyle/>
          <a:p>
            <a:pPr algn="r" indent="0" marL="0">
              <a:buNone/>
            </a:pPr>
            <a:r>
              <a:rPr lang="en-US" sz="1300" dirty="0">
                <a:solidFill>
                  <a:schemeClr val="tx1"/>
                </a:solidFill>
              </a:rPr>
              <a:t>2 / 5</a:t>
            </a:r>
            <a:endParaRPr lang="en-US" sz="1300" dirty="0"/>
          </a:p>
        </p:txBody>
      </p:sp>
      <p:sp>
        <p:nvSpPr>
          <p:cNvPr id="20" name="Text 18"/>
          <p:cNvSpPr txBox="1"/>
          <p:nvPr/>
        </p:nvSpPr>
        <p:spPr>
          <a:xfrm>
            <a:off x="868680" y="3758184"/>
            <a:ext cx="2103120" cy="411480"/>
          </a:xfrm>
          <a:prstGeom prst="rect">
            <a:avLst/>
          </a:prstGeom>
          <a:noFill/>
          <a:ln/>
        </p:spPr>
        <p:txBody>
          <a:bodyPr wrap="square" lIns="0" tIns="0" rIns="0" bIns="0" rtlCol="0" anchor="ctr"/>
          <a:lstStyle/>
          <a:p>
            <a:pPr indent="0" marL="0">
              <a:buNone/>
            </a:pPr>
            <a:r>
              <a:rPr lang="en-US" sz="1400" b="1" dirty="0">
                <a:solidFill>
                  <a:schemeClr val="tx2"/>
                </a:solidFill>
              </a:rPr>
              <a:t>Elastic Net</a:t>
            </a:r>
            <a:endParaRPr lang="en-US" sz="1400" dirty="0"/>
          </a:p>
        </p:txBody>
      </p:sp>
      <p:sp>
        <p:nvSpPr>
          <p:cNvPr id="21" name="Elastic Net year 1"/>
          <p:cNvSpPr/>
          <p:nvPr/>
        </p:nvSpPr>
        <p:spPr>
          <a:xfrm>
            <a:off x="3063240" y="3822192"/>
            <a:ext cx="292608" cy="292608"/>
          </a:xfrm>
          <a:prstGeom prst="ellipse">
            <a:avLst/>
          </a:prstGeom>
          <a:solidFill>
            <a:schemeClr val="accent2"/>
          </a:solidFill>
          <a:ln w="9525">
            <a:solidFill>
              <a:srgbClr val="8D99AE"/>
            </a:solidFill>
            <a:prstDash val="solid"/>
          </a:ln>
        </p:spPr>
      </p:sp>
      <p:sp>
        <p:nvSpPr>
          <p:cNvPr id="22" name="Elastic Net year 2"/>
          <p:cNvSpPr/>
          <p:nvPr/>
        </p:nvSpPr>
        <p:spPr>
          <a:xfrm>
            <a:off x="3520440" y="3822192"/>
            <a:ext cx="292608" cy="292608"/>
          </a:xfrm>
          <a:prstGeom prst="ellipse">
            <a:avLst/>
          </a:prstGeom>
          <a:solidFill>
            <a:schemeClr val="bg1"/>
          </a:solidFill>
          <a:ln w="9525">
            <a:solidFill>
              <a:srgbClr val="8D99AE"/>
            </a:solidFill>
            <a:prstDash val="solid"/>
          </a:ln>
        </p:spPr>
      </p:sp>
      <p:sp>
        <p:nvSpPr>
          <p:cNvPr id="23" name="Elastic Net year 3"/>
          <p:cNvSpPr/>
          <p:nvPr/>
        </p:nvSpPr>
        <p:spPr>
          <a:xfrm>
            <a:off x="3977640" y="3822192"/>
            <a:ext cx="292608" cy="292608"/>
          </a:xfrm>
          <a:prstGeom prst="ellipse">
            <a:avLst/>
          </a:prstGeom>
          <a:solidFill>
            <a:schemeClr val="bg1"/>
          </a:solidFill>
          <a:ln w="9525">
            <a:solidFill>
              <a:srgbClr val="8D99AE"/>
            </a:solidFill>
            <a:prstDash val="solid"/>
          </a:ln>
        </p:spPr>
      </p:sp>
      <p:sp>
        <p:nvSpPr>
          <p:cNvPr id="24" name="Elastic Net year 4"/>
          <p:cNvSpPr/>
          <p:nvPr/>
        </p:nvSpPr>
        <p:spPr>
          <a:xfrm>
            <a:off x="4434840" y="3822192"/>
            <a:ext cx="292608" cy="292608"/>
          </a:xfrm>
          <a:prstGeom prst="ellipse">
            <a:avLst/>
          </a:prstGeom>
          <a:solidFill>
            <a:schemeClr val="bg1"/>
          </a:solidFill>
          <a:ln w="9525">
            <a:solidFill>
              <a:srgbClr val="8D99AE"/>
            </a:solidFill>
            <a:prstDash val="solid"/>
          </a:ln>
        </p:spPr>
      </p:sp>
      <p:sp>
        <p:nvSpPr>
          <p:cNvPr id="25" name="Elastic Net year 5"/>
          <p:cNvSpPr/>
          <p:nvPr/>
        </p:nvSpPr>
        <p:spPr>
          <a:xfrm>
            <a:off x="4892040" y="3822192"/>
            <a:ext cx="292608" cy="292608"/>
          </a:xfrm>
          <a:prstGeom prst="ellipse">
            <a:avLst/>
          </a:prstGeom>
          <a:solidFill>
            <a:schemeClr val="bg1"/>
          </a:solidFill>
          <a:ln w="9525">
            <a:solidFill>
              <a:srgbClr val="8D99AE"/>
            </a:solidFill>
            <a:prstDash val="solid"/>
          </a:ln>
        </p:spPr>
      </p:sp>
      <p:sp>
        <p:nvSpPr>
          <p:cNvPr id="26" name="Text 24"/>
          <p:cNvSpPr txBox="1"/>
          <p:nvPr/>
        </p:nvSpPr>
        <p:spPr>
          <a:xfrm>
            <a:off x="5212080" y="3758184"/>
            <a:ext cx="548640" cy="411480"/>
          </a:xfrm>
          <a:prstGeom prst="rect">
            <a:avLst/>
          </a:prstGeom>
          <a:noFill/>
          <a:ln/>
        </p:spPr>
        <p:txBody>
          <a:bodyPr wrap="square" lIns="0" tIns="0" rIns="0" bIns="0" rtlCol="0" anchor="ctr"/>
          <a:lstStyle/>
          <a:p>
            <a:pPr algn="r" indent="0" marL="0">
              <a:buNone/>
            </a:pPr>
            <a:r>
              <a:rPr lang="en-US" sz="1300" dirty="0">
                <a:solidFill>
                  <a:schemeClr val="tx1"/>
                </a:solidFill>
              </a:rPr>
              <a:t>1 / 5</a:t>
            </a:r>
            <a:endParaRPr lang="en-US" sz="1300" dirty="0"/>
          </a:p>
        </p:txBody>
      </p:sp>
      <p:sp>
        <p:nvSpPr>
          <p:cNvPr id="27" name="Text 25"/>
          <p:cNvSpPr txBox="1"/>
          <p:nvPr/>
        </p:nvSpPr>
        <p:spPr>
          <a:xfrm>
            <a:off x="868680" y="4379976"/>
            <a:ext cx="2103120" cy="411480"/>
          </a:xfrm>
          <a:prstGeom prst="rect">
            <a:avLst/>
          </a:prstGeom>
          <a:noFill/>
          <a:ln/>
        </p:spPr>
        <p:txBody>
          <a:bodyPr wrap="square" lIns="0" tIns="0" rIns="0" bIns="0" rtlCol="0" anchor="ctr"/>
          <a:lstStyle/>
          <a:p>
            <a:pPr indent="0" marL="0">
              <a:buNone/>
            </a:pPr>
            <a:r>
              <a:rPr lang="en-US" sz="1400" b="1" dirty="0">
                <a:solidFill>
                  <a:schemeClr val="tx2"/>
                </a:solidFill>
              </a:rPr>
              <a:t>Decision Tree</a:t>
            </a:r>
            <a:endParaRPr lang="en-US" sz="1400" dirty="0"/>
          </a:p>
        </p:txBody>
      </p:sp>
      <p:sp>
        <p:nvSpPr>
          <p:cNvPr id="28" name="Decision Tree year 1"/>
          <p:cNvSpPr/>
          <p:nvPr/>
        </p:nvSpPr>
        <p:spPr>
          <a:xfrm>
            <a:off x="3063240" y="4443984"/>
            <a:ext cx="292608" cy="292608"/>
          </a:xfrm>
          <a:prstGeom prst="ellipse">
            <a:avLst/>
          </a:prstGeom>
          <a:solidFill>
            <a:schemeClr val="bg1"/>
          </a:solidFill>
          <a:ln w="9525">
            <a:solidFill>
              <a:srgbClr val="8D99AE"/>
            </a:solidFill>
            <a:prstDash val="solid"/>
          </a:ln>
        </p:spPr>
      </p:sp>
      <p:sp>
        <p:nvSpPr>
          <p:cNvPr id="29" name="Decision Tree year 2"/>
          <p:cNvSpPr/>
          <p:nvPr/>
        </p:nvSpPr>
        <p:spPr>
          <a:xfrm>
            <a:off x="3520440" y="4443984"/>
            <a:ext cx="292608" cy="292608"/>
          </a:xfrm>
          <a:prstGeom prst="ellipse">
            <a:avLst/>
          </a:prstGeom>
          <a:solidFill>
            <a:schemeClr val="bg1"/>
          </a:solidFill>
          <a:ln w="9525">
            <a:solidFill>
              <a:srgbClr val="8D99AE"/>
            </a:solidFill>
            <a:prstDash val="solid"/>
          </a:ln>
        </p:spPr>
      </p:sp>
      <p:sp>
        <p:nvSpPr>
          <p:cNvPr id="30" name="Decision Tree year 3"/>
          <p:cNvSpPr/>
          <p:nvPr/>
        </p:nvSpPr>
        <p:spPr>
          <a:xfrm>
            <a:off x="3977640" y="4443984"/>
            <a:ext cx="292608" cy="292608"/>
          </a:xfrm>
          <a:prstGeom prst="ellipse">
            <a:avLst/>
          </a:prstGeom>
          <a:solidFill>
            <a:schemeClr val="bg1"/>
          </a:solidFill>
          <a:ln w="9525">
            <a:solidFill>
              <a:srgbClr val="8D99AE"/>
            </a:solidFill>
            <a:prstDash val="solid"/>
          </a:ln>
        </p:spPr>
      </p:sp>
      <p:sp>
        <p:nvSpPr>
          <p:cNvPr id="31" name="Decision Tree year 4"/>
          <p:cNvSpPr/>
          <p:nvPr/>
        </p:nvSpPr>
        <p:spPr>
          <a:xfrm>
            <a:off x="4434840" y="4443984"/>
            <a:ext cx="292608" cy="292608"/>
          </a:xfrm>
          <a:prstGeom prst="ellipse">
            <a:avLst/>
          </a:prstGeom>
          <a:solidFill>
            <a:schemeClr val="bg1"/>
          </a:solidFill>
          <a:ln w="9525">
            <a:solidFill>
              <a:srgbClr val="8D99AE"/>
            </a:solidFill>
            <a:prstDash val="solid"/>
          </a:ln>
        </p:spPr>
      </p:sp>
      <p:sp>
        <p:nvSpPr>
          <p:cNvPr id="32" name="Decision Tree year 5"/>
          <p:cNvSpPr/>
          <p:nvPr/>
        </p:nvSpPr>
        <p:spPr>
          <a:xfrm>
            <a:off x="4892040" y="4443984"/>
            <a:ext cx="292608" cy="292608"/>
          </a:xfrm>
          <a:prstGeom prst="ellipse">
            <a:avLst/>
          </a:prstGeom>
          <a:solidFill>
            <a:schemeClr val="bg1"/>
          </a:solidFill>
          <a:ln w="9525">
            <a:solidFill>
              <a:srgbClr val="8D99AE"/>
            </a:solidFill>
            <a:prstDash val="solid"/>
          </a:ln>
        </p:spPr>
      </p:sp>
      <p:sp>
        <p:nvSpPr>
          <p:cNvPr id="33" name="Text 31"/>
          <p:cNvSpPr txBox="1"/>
          <p:nvPr/>
        </p:nvSpPr>
        <p:spPr>
          <a:xfrm>
            <a:off x="5212080" y="4379976"/>
            <a:ext cx="548640" cy="411480"/>
          </a:xfrm>
          <a:prstGeom prst="rect">
            <a:avLst/>
          </a:prstGeom>
          <a:noFill/>
          <a:ln/>
        </p:spPr>
        <p:txBody>
          <a:bodyPr wrap="square" lIns="0" tIns="0" rIns="0" bIns="0" rtlCol="0" anchor="ctr"/>
          <a:lstStyle/>
          <a:p>
            <a:pPr algn="r" indent="0" marL="0">
              <a:buNone/>
            </a:pPr>
            <a:r>
              <a:rPr lang="en-US" sz="1300" dirty="0">
                <a:solidFill>
                  <a:schemeClr val="tx1"/>
                </a:solidFill>
              </a:rPr>
              <a:t>0 / 5</a:t>
            </a:r>
            <a:endParaRPr lang="en-US" sz="1300" dirty="0"/>
          </a:p>
        </p:txBody>
      </p:sp>
      <p:sp>
        <p:nvSpPr>
          <p:cNvPr id="34" name="Text 32"/>
          <p:cNvSpPr txBox="1"/>
          <p:nvPr/>
        </p:nvSpPr>
        <p:spPr>
          <a:xfrm>
            <a:off x="868680" y="5120640"/>
            <a:ext cx="4754880" cy="731520"/>
          </a:xfrm>
          <a:prstGeom prst="rect">
            <a:avLst/>
          </a:prstGeom>
          <a:noFill/>
          <a:ln/>
        </p:spPr>
        <p:txBody>
          <a:bodyPr wrap="square" lIns="0" tIns="0" rIns="0" bIns="0" rtlCol="0" anchor="t"/>
          <a:lstStyle/>
          <a:p>
            <a:pPr indent="0" marL="0">
              <a:buNone/>
            </a:pPr>
            <a:r>
              <a:rPr lang="en-US" sz="1300" i="1" dirty="0">
                <a:solidFill>
                  <a:schemeClr val="tx1"/>
                </a:solidFill>
              </a:rPr>
              <a:t>On average, the simple historical-average baseline had the lowest error (3.335%).</a:t>
            </a:r>
            <a:endParaRPr lang="en-US" sz="1300" dirty="0"/>
          </a:p>
        </p:txBody>
      </p:sp>
      <p:sp>
        <p:nvSpPr>
          <p:cNvPr id="35" name="Text 33"/>
          <p:cNvSpPr txBox="1"/>
          <p:nvPr/>
        </p:nvSpPr>
        <p:spPr>
          <a:xfrm>
            <a:off x="6309360" y="1508760"/>
            <a:ext cx="5303520" cy="411480"/>
          </a:xfrm>
          <a:prstGeom prst="rect">
            <a:avLst/>
          </a:prstGeom>
          <a:noFill/>
          <a:ln/>
        </p:spPr>
        <p:txBody>
          <a:bodyPr wrap="square" lIns="0" tIns="0" rIns="0" bIns="0" rtlCol="0" anchor="ctr"/>
          <a:lstStyle/>
          <a:p>
            <a:pPr indent="0" marL="0">
              <a:buNone/>
            </a:pPr>
            <a:r>
              <a:rPr lang="en-US" sz="1800" b="1" dirty="0">
                <a:solidFill>
                  <a:schemeClr val="tx2"/>
                </a:solidFill>
              </a:rPr>
              <a:t>Error by forecast horizon (RMSE %)</a:t>
            </a:r>
            <a:endParaRPr lang="en-US" sz="1800" dirty="0"/>
          </a:p>
        </p:txBody>
      </p:sp>
      <p:graphicFrame>
        <p:nvGraphicFramePr>
          <p:cNvPr id="9" name="Horizon table"/>
          <p:cNvGraphicFramePr>
            <a:graphicFrameLocks noGrp="1"/>
          </p:cNvGraphicFramePr>
          <p:nvPr>
            <p:extLst>
              <p:ext uri="{D42A27DB-BD31-4B8C-83A1-F6EECF244321}">
                <p14:modId xmlns:p14="http://schemas.microsoft.com/office/powerpoint/2010/main" val="1579011935"/>
              </p:ext>
            </p:extLst>
          </p:nvPr>
        </p:nvGraphicFramePr>
        <p:xfrm>
          <a:off x="6309360" y="2057400"/>
          <a:ext cx="5303520" cy="914400"/>
        </p:xfrm>
        <a:graphic>
          <a:graphicData uri="http://schemas.openxmlformats.org/drawingml/2006/table">
            <a:tbl>
              <a:tblPr/>
              <a:tblGrid>
                <a:gridCol w="2011680"/>
                <a:gridCol w="1097280"/>
                <a:gridCol w="1097280"/>
                <a:gridCol w="1097280"/>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 day</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5 days</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20 days</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4213D"/>
                    </a:solidFill>
                  </a:tcPr>
                </a:tc>
              </a:tr>
              <a:tr h="411480">
                <a:tc>
                  <a:txBody>
                    <a:bodyPr/>
                    <a:lstStyle/>
                    <a:p>
                      <a:pPr algn="l" indent="0" marL="0">
                        <a:buNone/>
                      </a:pPr>
                      <a:r>
                        <a:rPr lang="en-US" sz="1300" b="1" dirty="0">
                          <a:solidFill>
                            <a:srgbClr val="1B1F24"/>
                          </a:solidFill>
                          <a:latin typeface="Calibri" pitchFamily="34" charset="0"/>
                          <a:ea typeface="Calibri" pitchFamily="34" charset="-122"/>
                          <a:cs typeface="Calibri" pitchFamily="34" charset="-120"/>
                        </a:rPr>
                        <a:t>Predict 0</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1.440</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3.375</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7.544</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11480">
                <a:tc>
                  <a:txBody>
                    <a:bodyPr/>
                    <a:lstStyle/>
                    <a:p>
                      <a:pPr algn="l" indent="0" marL="0">
                        <a:buNone/>
                      </a:pPr>
                      <a:r>
                        <a:rPr lang="en-US" sz="1300" dirty="0">
                          <a:solidFill>
                            <a:srgbClr val="1B1F24"/>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1.448</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b="1" dirty="0">
                          <a:solidFill>
                            <a:srgbClr val="2A9D8F"/>
                          </a:solidFill>
                          <a:latin typeface="Calibri" pitchFamily="34" charset="0"/>
                          <a:ea typeface="Calibri" pitchFamily="34" charset="-122"/>
                          <a:cs typeface="Calibri" pitchFamily="34" charset="-120"/>
                        </a:rPr>
                        <a:t>3.356</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b="1" dirty="0">
                          <a:solidFill>
                            <a:srgbClr val="2A9D8F"/>
                          </a:solidFill>
                          <a:latin typeface="Calibri" pitchFamily="34" charset="0"/>
                          <a:ea typeface="Calibri" pitchFamily="34" charset="-122"/>
                          <a:cs typeface="Calibri" pitchFamily="34" charset="-120"/>
                        </a:rPr>
                        <a:t>7.359</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11480">
                <a:tc>
                  <a:txBody>
                    <a:bodyPr/>
                    <a:lstStyle/>
                    <a:p>
                      <a:pPr algn="l" indent="0" marL="0">
                        <a:buNone/>
                      </a:pPr>
                      <a:r>
                        <a:rPr lang="en-US" sz="1300" dirty="0">
                          <a:solidFill>
                            <a:srgbClr val="1B1F24"/>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1.485</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3.385</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b="1" dirty="0">
                          <a:solidFill>
                            <a:srgbClr val="2A9D8F"/>
                          </a:solidFill>
                          <a:latin typeface="Calibri" pitchFamily="34" charset="0"/>
                          <a:ea typeface="Calibri" pitchFamily="34" charset="-122"/>
                          <a:cs typeface="Calibri" pitchFamily="34" charset="-120"/>
                        </a:rPr>
                        <a:t>7.314</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11480">
                <a:tc>
                  <a:txBody>
                    <a:bodyPr/>
                    <a:lstStyle/>
                    <a:p>
                      <a:pPr algn="l" indent="0" marL="0">
                        <a:buNone/>
                      </a:pPr>
                      <a:r>
                        <a:rPr lang="en-US" sz="1300" dirty="0">
                          <a:solidFill>
                            <a:srgbClr val="1B1F24"/>
                          </a:solidFill>
                          <a:latin typeface="Calibri" pitchFamily="34" charset="0"/>
                          <a:ea typeface="Calibri" pitchFamily="34" charset="-122"/>
                          <a:cs typeface="Calibri" pitchFamily="34" charset="-120"/>
                        </a:rPr>
                        <a:t>Elastic Net</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1.441</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3.387</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7.594</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11480">
                <a:tc>
                  <a:txBody>
                    <a:bodyPr/>
                    <a:lstStyle/>
                    <a:p>
                      <a:pPr algn="l" indent="0" marL="0">
                        <a:buNone/>
                      </a:pPr>
                      <a:r>
                        <a:rPr lang="en-US" sz="1300" dirty="0">
                          <a:solidFill>
                            <a:srgbClr val="1B1F24"/>
                          </a:solidFill>
                          <a:latin typeface="Calibri" pitchFamily="34" charset="0"/>
                          <a:ea typeface="Calibri" pitchFamily="34" charset="-122"/>
                          <a:cs typeface="Calibri" pitchFamily="34" charset="-120"/>
                        </a:rPr>
                        <a:t>Decision Tree</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1.496</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3.470</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300" dirty="0">
                          <a:solidFill>
                            <a:srgbClr val="1B1F24"/>
                          </a:solidFill>
                          <a:latin typeface="Calibri" pitchFamily="34" charset="0"/>
                          <a:ea typeface="Calibri" pitchFamily="34" charset="-122"/>
                          <a:cs typeface="Calibri" pitchFamily="34" charset="-120"/>
                        </a:rPr>
                        <a:t>8.283</a:t>
                      </a:r>
                      <a:endParaRPr lang="en-US" sz="1300" dirty="0">
                        <a:latin typeface="Calibri" charset="0"/>
                        <a:ea typeface="Calibri" charset="0"/>
                        <a:cs typeface="Calibri" charset="0"/>
                      </a:endParaRPr>
                    </a:p>
                  </a:txBody>
                  <a:tcPr marL="91440" marR="91440" marT="45720" marB="45720">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37" name="Text 34"/>
          <p:cNvSpPr txBox="1"/>
          <p:nvPr/>
        </p:nvSpPr>
        <p:spPr>
          <a:xfrm>
            <a:off x="6309360" y="4709160"/>
            <a:ext cx="5303520" cy="1188720"/>
          </a:xfrm>
          <a:prstGeom prst="rect">
            <a:avLst/>
          </a:prstGeom>
          <a:noFill/>
          <a:ln/>
        </p:spPr>
        <p:txBody>
          <a:bodyPr wrap="square" lIns="0" tIns="0" rIns="0" bIns="0" rtlCol="0" anchor="t"/>
          <a:lstStyle/>
          <a:p>
            <a:pPr indent="0" marL="0">
              <a:buNone/>
            </a:pPr>
            <a:r>
              <a:rPr lang="en-US" sz="1300" b="1" dirty="0">
                <a:solidFill>
                  <a:schemeClr val="accent2"/>
                </a:solidFill>
              </a:rPr>
              <a:t>Teal = beats predict-0. </a:t>
            </a:r>
            <a:pPr indent="0" marL="0">
              <a:buNone/>
            </a:pPr>
            <a:r>
              <a:rPr lang="en-US" sz="1300" dirty="0">
                <a:solidFill>
                  <a:schemeClr val="tx1"/>
                </a:solidFill>
              </a:rPr>
              <a:t>Error grows with the horizon, as in the paper. At 20 days both ensembles beat predict-0 with supplier data; without it, only Gradient Boosting does, barely (7.51%).</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trading test: a win that needs a caveat</a:t>
            </a:r>
            <a:endParaRPr lang="en-US" sz="3600" dirty="0"/>
          </a:p>
        </p:txBody>
      </p:sp>
      <p:pic>
        <p:nvPicPr>
          <p:cNvPr id="3" name="Equity curve" descr="/tmp/claude-0/-home-claude/1baf4aec-6fdd-5f3b-a70f-e4987421a61b/scratchpad/deck/equity.png">    </p:cNvPr>
          <p:cNvPicPr>
            <a:picLocks noChangeAspect="1"/>
          </p:cNvPicPr>
          <p:nvPr/>
        </p:nvPicPr>
        <p:blipFill>
          <a:blip r:embed="rId1"/>
          <a:stretch>
            <a:fillRect/>
          </a:stretch>
        </p:blipFill>
        <p:spPr>
          <a:xfrm>
            <a:off x="548640" y="1280160"/>
            <a:ext cx="6858000" cy="4000500"/>
          </a:xfrm>
          <a:prstGeom prst="rect">
            <a:avLst/>
          </a:prstGeom>
        </p:spPr>
      </p:pic>
      <p:sp>
        <p:nvSpPr>
          <p:cNvPr id="4" name="Text 1"/>
          <p:cNvSpPr txBox="1"/>
          <p:nvPr/>
        </p:nvSpPr>
        <p:spPr>
          <a:xfrm>
            <a:off x="548640" y="5394960"/>
            <a:ext cx="6858000" cy="640080"/>
          </a:xfrm>
          <a:prstGeom prst="rect">
            <a:avLst/>
          </a:prstGeom>
          <a:noFill/>
          <a:ln/>
        </p:spPr>
        <p:txBody>
          <a:bodyPr wrap="square" lIns="0" tIns="0" rIns="0" bIns="0" rtlCol="0" anchor="t"/>
          <a:lstStyle/>
          <a:p>
            <a:pPr indent="0" marL="0">
              <a:buNone/>
            </a:pPr>
            <a:r>
              <a:rPr lang="en-US" sz="1200" dirty="0">
                <a:solidFill>
                  <a:schemeClr val="tx1"/>
                </a:solidFill>
              </a:rPr>
              <a:t>Rule: hold Maruti on a day only if yesterday's forecast was above 0.25%, otherwise cash. 0.05% cost per trade. Test period Oct 2024 – Oct 2026.</a:t>
            </a:r>
            <a:endParaRPr lang="en-US" sz="1200" dirty="0"/>
          </a:p>
        </p:txBody>
      </p:sp>
      <p:sp>
        <p:nvSpPr>
          <p:cNvPr id="5" name="Text 2"/>
          <p:cNvSpPr txBox="1"/>
          <p:nvPr/>
        </p:nvSpPr>
        <p:spPr>
          <a:xfrm>
            <a:off x="7863840" y="1325880"/>
            <a:ext cx="1737360" cy="64008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+6.7%</a:t>
            </a:r>
            <a:endParaRPr lang="en-US" sz="3200" dirty="0"/>
          </a:p>
        </p:txBody>
      </p:sp>
      <p:sp>
        <p:nvSpPr>
          <p:cNvPr id="6" name="Text 3"/>
          <p:cNvSpPr txBox="1"/>
          <p:nvPr/>
        </p:nvSpPr>
        <p:spPr>
          <a:xfrm>
            <a:off x="9601200" y="1353312"/>
            <a:ext cx="2011680" cy="640080"/>
          </a:xfrm>
          <a:prstGeom prst="rect">
            <a:avLst/>
          </a:prstGeom>
          <a:noFill/>
          <a:ln/>
        </p:spPr>
        <p:txBody>
          <a:bodyPr wrap="square" lIns="0" tIns="0" rIns="0" bIns="0" rtlCol="0" anchor="ctr"/>
          <a:lstStyle/>
          <a:p>
            <a:pPr indent="0" marL="0">
              <a:buNone/>
            </a:pPr>
            <a:r>
              <a:rPr lang="en-US" sz="1300" b="1" dirty="0">
                <a:solidFill>
                  <a:schemeClr val="tx2"/>
                </a:solidFill>
              </a:rPr>
              <a:t>strategy return</a:t>
            </a:r>
            <a:endParaRPr lang="en-US" sz="1300" dirty="0"/>
          </a:p>
          <a:p>
            <a:pPr indent="0" marL="0">
              <a:buNone/>
            </a:pPr>
            <a:r>
              <a:rPr lang="en-US" sz="1300" dirty="0">
                <a:solidFill>
                  <a:schemeClr val="tx1"/>
                </a:solidFill>
              </a:rPr>
              <a:t>vs −3.3% buy-and-hold</a:t>
            </a:r>
            <a:endParaRPr lang="en-US" sz="1300" dirty="0"/>
          </a:p>
        </p:txBody>
      </p:sp>
      <p:sp>
        <p:nvSpPr>
          <p:cNvPr id="7" name="Text 4"/>
          <p:cNvSpPr txBox="1"/>
          <p:nvPr/>
        </p:nvSpPr>
        <p:spPr>
          <a:xfrm>
            <a:off x="7863840" y="2468880"/>
            <a:ext cx="173736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−23%</a:t>
            </a:r>
            <a:endParaRPr lang="en-US" sz="3200" dirty="0"/>
          </a:p>
        </p:txBody>
      </p:sp>
      <p:sp>
        <p:nvSpPr>
          <p:cNvPr id="8" name="Text 5"/>
          <p:cNvSpPr txBox="1"/>
          <p:nvPr/>
        </p:nvSpPr>
        <p:spPr>
          <a:xfrm>
            <a:off x="9601200" y="2496312"/>
            <a:ext cx="2011680" cy="640080"/>
          </a:xfrm>
          <a:prstGeom prst="rect">
            <a:avLst/>
          </a:prstGeom>
          <a:noFill/>
          <a:ln/>
        </p:spPr>
        <p:txBody>
          <a:bodyPr wrap="square" lIns="0" tIns="0" rIns="0" bIns="0" rtlCol="0" anchor="ctr"/>
          <a:lstStyle/>
          <a:p>
            <a:pPr indent="0" marL="0">
              <a:buNone/>
            </a:pPr>
            <a:r>
              <a:rPr lang="en-US" sz="1300" b="1" dirty="0">
                <a:solidFill>
                  <a:schemeClr val="tx2"/>
                </a:solidFill>
              </a:rPr>
              <a:t>worst drop</a:t>
            </a:r>
            <a:endParaRPr lang="en-US" sz="1300" dirty="0"/>
          </a:p>
          <a:p>
            <a:pPr indent="0" marL="0">
              <a:buNone/>
            </a:pPr>
            <a:r>
              <a:rPr lang="en-US" sz="1300" dirty="0">
                <a:solidFill>
                  <a:schemeClr val="tx1"/>
                </a:solidFill>
              </a:rPr>
              <a:t>vs −33% buy-and-hold</a:t>
            </a:r>
            <a:endParaRPr lang="en-US" sz="1300" dirty="0"/>
          </a:p>
        </p:txBody>
      </p:sp>
      <p:sp>
        <p:nvSpPr>
          <p:cNvPr id="9" name="Text 6"/>
          <p:cNvSpPr txBox="1"/>
          <p:nvPr/>
        </p:nvSpPr>
        <p:spPr>
          <a:xfrm>
            <a:off x="7863840" y="3611880"/>
            <a:ext cx="173736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32</a:t>
            </a:r>
            <a:endParaRPr lang="en-US" sz="3200" dirty="0"/>
          </a:p>
        </p:txBody>
      </p:sp>
      <p:sp>
        <p:nvSpPr>
          <p:cNvPr id="10" name="Text 7"/>
          <p:cNvSpPr txBox="1"/>
          <p:nvPr/>
        </p:nvSpPr>
        <p:spPr>
          <a:xfrm>
            <a:off x="9601200" y="3639312"/>
            <a:ext cx="2011680" cy="640080"/>
          </a:xfrm>
          <a:prstGeom prst="rect">
            <a:avLst/>
          </a:prstGeom>
          <a:noFill/>
          <a:ln/>
        </p:spPr>
        <p:txBody>
          <a:bodyPr wrap="square" lIns="0" tIns="0" rIns="0" bIns="0" rtlCol="0" anchor="ctr"/>
          <a:lstStyle/>
          <a:p>
            <a:pPr indent="0" marL="0">
              <a:buNone/>
            </a:pPr>
            <a:r>
              <a:rPr lang="en-US" sz="1300" b="1" dirty="0">
                <a:solidFill>
                  <a:schemeClr val="tx2"/>
                </a:solidFill>
              </a:rPr>
              <a:t>trades</a:t>
            </a:r>
            <a:endParaRPr lang="en-US" sz="1300" dirty="0"/>
          </a:p>
          <a:p>
            <a:pPr indent="0" marL="0">
              <a:buNone/>
            </a:pPr>
            <a:r>
              <a:rPr lang="en-US" sz="1300" dirty="0">
                <a:solidFill>
                  <a:schemeClr val="tx1"/>
                </a:solidFill>
              </a:rPr>
              <a:t>in market 71% of days</a:t>
            </a:r>
            <a:endParaRPr lang="en-US" sz="1300" dirty="0"/>
          </a:p>
        </p:txBody>
      </p:sp>
      <p:sp>
        <p:nvSpPr>
          <p:cNvPr id="11" name="Caveat card"/>
          <p:cNvSpPr/>
          <p:nvPr/>
        </p:nvSpPr>
        <p:spPr>
          <a:xfrm>
            <a:off x="7863840" y="4800600"/>
            <a:ext cx="3749040" cy="1280160"/>
          </a:xfrm>
          <a:prstGeom prst="roundRect">
            <a:avLst>
              <a:gd name="adj" fmla="val 8571"/>
            </a:avLst>
          </a:prstGeom>
          <a:solidFill>
            <a:schemeClr val="bg2"/>
          </a:solidFill>
          <a:ln/>
        </p:spPr>
      </p:sp>
      <p:sp>
        <p:nvSpPr>
          <p:cNvPr id="12" name="Caveat circle"/>
          <p:cNvSpPr/>
          <p:nvPr/>
        </p:nvSpPr>
        <p:spPr>
          <a:xfrm>
            <a:off x="8046720" y="4983480"/>
            <a:ext cx="502920" cy="502920"/>
          </a:xfrm>
          <a:prstGeom prst="ellipse">
            <a:avLst/>
          </a:prstGeom>
          <a:solidFill>
            <a:schemeClr val="accent4"/>
          </a:solidFill>
          <a:ln/>
        </p:spPr>
      </p:sp>
      <p:pic>
        <p:nvPicPr>
          <p:cNvPr id="13" name="Caveat icon" descr="preencoded.png">    </p:cNvPr>
          <p:cNvPicPr>
            <a:picLocks noChangeAspect="1"/>
          </p:cNvPicPr>
          <p:nvPr/>
        </p:nvPicPr>
        <p:blipFill>
          <a:blip r:embed="rId2"/>
          <a:stretch>
            <a:fillRect/>
          </a:stretch>
        </p:blipFill>
        <p:spPr>
          <a:xfrm>
            <a:off x="8172450" y="5109210"/>
            <a:ext cx="251460" cy="251460"/>
          </a:xfrm>
          <a:prstGeom prst="rect">
            <a:avLst/>
          </a:prstGeom>
        </p:spPr>
      </p:pic>
      <p:sp>
        <p:nvSpPr>
          <p:cNvPr id="14" name="Text 10"/>
          <p:cNvSpPr txBox="1"/>
          <p:nvPr/>
        </p:nvSpPr>
        <p:spPr>
          <a:xfrm>
            <a:off x="8686800" y="4892040"/>
            <a:ext cx="2788920" cy="1097280"/>
          </a:xfrm>
          <a:prstGeom prst="rect">
            <a:avLst/>
          </a:prstGeom>
          <a:noFill/>
          <a:ln/>
        </p:spPr>
        <p:txBody>
          <a:bodyPr wrap="square" lIns="0" tIns="0" rIns="0" bIns="0" rtlCol="0" anchor="ctr"/>
          <a:lstStyle/>
          <a:p>
            <a:pPr indent="0" marL="0">
              <a:buNone/>
            </a:pPr>
            <a:r>
              <a:rPr lang="en-US" sz="1200" dirty="0">
                <a:solidFill>
                  <a:schemeClr val="tx1"/>
                </a:solidFill>
              </a:rPr>
              <a:t>Mostly from sitting in cash during the late-2026 fall. With own features only, the result swings from −3% to +25% just by changing the threshold.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What we learned</a:t>
            </a:r>
            <a:endParaRPr lang="en-US" sz="3600" dirty="0"/>
          </a:p>
        </p:txBody>
      </p:sp>
      <p:sp>
        <p:nvSpPr>
          <p:cNvPr id="3" name="Learn 1 circle"/>
          <p:cNvSpPr/>
          <p:nvPr/>
        </p:nvSpPr>
        <p:spPr>
          <a:xfrm>
            <a:off x="548640" y="1417320"/>
            <a:ext cx="640080" cy="640080"/>
          </a:xfrm>
          <a:prstGeom prst="ellipse">
            <a:avLst/>
          </a:prstGeom>
          <a:solidFill>
            <a:schemeClr val="accent1"/>
          </a:solidFill>
          <a:ln/>
        </p:spPr>
      </p:sp>
      <p:pic>
        <p:nvPicPr>
          <p:cNvPr id="4" name="Learn 1 icon" descr="preencoded.png">    </p:cNvPr>
          <p:cNvPicPr>
            <a:picLocks noChangeAspect="1"/>
          </p:cNvPicPr>
          <p:nvPr/>
        </p:nvPicPr>
        <p:blipFill>
          <a:blip r:embed="rId1"/>
          <a:stretch>
            <a:fillRect/>
          </a:stretch>
        </p:blipFill>
        <p:spPr>
          <a:xfrm>
            <a:off x="708660" y="1577340"/>
            <a:ext cx="320040" cy="320040"/>
          </a:xfrm>
          <a:prstGeom prst="rect">
            <a:avLst/>
          </a:prstGeom>
        </p:spPr>
      </p:pic>
      <p:sp>
        <p:nvSpPr>
          <p:cNvPr id="5" name="Text 2"/>
          <p:cNvSpPr txBox="1"/>
          <p:nvPr/>
        </p:nvSpPr>
        <p:spPr>
          <a:xfrm>
            <a:off x="1417320" y="1399032"/>
            <a:ext cx="5760720" cy="365760"/>
          </a:xfrm>
          <a:prstGeom prst="rect">
            <a:avLst/>
          </a:prstGeom>
          <a:noFill/>
          <a:ln/>
        </p:spPr>
        <p:txBody>
          <a:bodyPr wrap="square" lIns="0" tIns="0" rIns="0" bIns="0" rtlCol="0" anchor="ctr"/>
          <a:lstStyle/>
          <a:p>
            <a:pPr indent="0" marL="0">
              <a:buNone/>
            </a:pPr>
            <a:r>
              <a:rPr lang="en-US" sz="1800" b="1" dirty="0">
                <a:solidFill>
                  <a:schemeClr val="bg1"/>
                </a:solidFill>
              </a:rPr>
              <a:t>A small signal</a:t>
            </a:r>
            <a:endParaRPr lang="en-US" sz="1800" dirty="0"/>
          </a:p>
        </p:txBody>
      </p:sp>
      <p:sp>
        <p:nvSpPr>
          <p:cNvPr id="6" name="Text 3"/>
          <p:cNvSpPr txBox="1"/>
          <p:nvPr/>
        </p:nvSpPr>
        <p:spPr>
          <a:xfrm>
            <a:off x="1417320" y="1764792"/>
            <a:ext cx="5760720" cy="685800"/>
          </a:xfrm>
          <a:prstGeom prst="rect">
            <a:avLst/>
          </a:prstGeom>
          <a:noFill/>
          <a:ln/>
        </p:spPr>
        <p:txBody>
          <a:bodyPr wrap="square" lIns="0" tIns="0" rIns="0" bIns="0" rtlCol="0" anchor="t"/>
          <a:lstStyle/>
          <a:p>
            <a:pPr indent="0" marL="0">
              <a:buNone/>
            </a:pPr>
            <a:r>
              <a:rPr lang="en-US" sz="1300" dirty="0">
                <a:solidFill>
                  <a:schemeClr val="accent6"/>
                </a:solidFill>
              </a:rPr>
              <a:t>Supplier returns help the tree ensembles a little, but not enough to reliably beat guessing “no change” — the paper's own footnote says the same.</a:t>
            </a:r>
            <a:endParaRPr lang="en-US" sz="1300" dirty="0"/>
          </a:p>
        </p:txBody>
      </p:sp>
      <p:sp>
        <p:nvSpPr>
          <p:cNvPr id="7" name="Learn 2 circle"/>
          <p:cNvSpPr/>
          <p:nvPr/>
        </p:nvSpPr>
        <p:spPr>
          <a:xfrm>
            <a:off x="548640" y="2514600"/>
            <a:ext cx="640080" cy="640080"/>
          </a:xfrm>
          <a:prstGeom prst="ellipse">
            <a:avLst/>
          </a:prstGeom>
          <a:solidFill>
            <a:schemeClr val="accent1"/>
          </a:solidFill>
          <a:ln/>
        </p:spPr>
      </p:sp>
      <p:pic>
        <p:nvPicPr>
          <p:cNvPr id="8" name="Learn 2 icon" descr="preencoded.png">    </p:cNvPr>
          <p:cNvPicPr>
            <a:picLocks noChangeAspect="1"/>
          </p:cNvPicPr>
          <p:nvPr/>
        </p:nvPicPr>
        <p:blipFill>
          <a:blip r:embed="rId2"/>
          <a:stretch>
            <a:fillRect/>
          </a:stretch>
        </p:blipFill>
        <p:spPr>
          <a:xfrm>
            <a:off x="708660" y="2674620"/>
            <a:ext cx="320040" cy="320040"/>
          </a:xfrm>
          <a:prstGeom prst="rect">
            <a:avLst/>
          </a:prstGeom>
        </p:spPr>
      </p:pic>
      <p:sp>
        <p:nvSpPr>
          <p:cNvPr id="9" name="Text 5"/>
          <p:cNvSpPr txBox="1"/>
          <p:nvPr/>
        </p:nvSpPr>
        <p:spPr>
          <a:xfrm>
            <a:off x="1417320" y="2496312"/>
            <a:ext cx="5760720" cy="365760"/>
          </a:xfrm>
          <a:prstGeom prst="rect">
            <a:avLst/>
          </a:prstGeom>
          <a:noFill/>
          <a:ln/>
        </p:spPr>
        <p:txBody>
          <a:bodyPr wrap="square" lIns="0" tIns="0" rIns="0" bIns="0" rtlCol="0" anchor="ctr"/>
          <a:lstStyle/>
          <a:p>
            <a:pPr indent="0" marL="0">
              <a:buNone/>
            </a:pPr>
            <a:r>
              <a:rPr lang="en-US" sz="1800" b="1" dirty="0">
                <a:solidFill>
                  <a:schemeClr val="bg1"/>
                </a:solidFill>
              </a:rPr>
              <a:t>Backtests can mislead</a:t>
            </a:r>
            <a:endParaRPr lang="en-US" sz="1800" dirty="0"/>
          </a:p>
        </p:txBody>
      </p:sp>
      <p:sp>
        <p:nvSpPr>
          <p:cNvPr id="10" name="Text 6"/>
          <p:cNvSpPr txBox="1"/>
          <p:nvPr/>
        </p:nvSpPr>
        <p:spPr>
          <a:xfrm>
            <a:off x="1417320" y="2862072"/>
            <a:ext cx="5760720" cy="685800"/>
          </a:xfrm>
          <a:prstGeom prst="rect">
            <a:avLst/>
          </a:prstGeom>
          <a:noFill/>
          <a:ln/>
        </p:spPr>
        <p:txBody>
          <a:bodyPr wrap="square" lIns="0" tIns="0" rIns="0" bIns="0" rtlCol="0" anchor="t"/>
          <a:lstStyle/>
          <a:p>
            <a:pPr indent="0" marL="0">
              <a:buNone/>
            </a:pPr>
            <a:r>
              <a:rPr lang="en-US" sz="1300" dirty="0">
                <a:solidFill>
                  <a:schemeClr val="accent6"/>
                </a:solidFill>
              </a:rPr>
              <a:t>Our strategy beat buy-and-hold, yet the forecasts have no reliable edge and the result swings with the threshold.</a:t>
            </a:r>
            <a:endParaRPr lang="en-US" sz="1300" dirty="0"/>
          </a:p>
        </p:txBody>
      </p:sp>
      <p:sp>
        <p:nvSpPr>
          <p:cNvPr id="11" name="Learn 3 circle"/>
          <p:cNvSpPr/>
          <p:nvPr/>
        </p:nvSpPr>
        <p:spPr>
          <a:xfrm>
            <a:off x="548640" y="3611880"/>
            <a:ext cx="640080" cy="640080"/>
          </a:xfrm>
          <a:prstGeom prst="ellipse">
            <a:avLst/>
          </a:prstGeom>
          <a:solidFill>
            <a:schemeClr val="accent1"/>
          </a:solidFill>
          <a:ln/>
        </p:spPr>
      </p:sp>
      <p:pic>
        <p:nvPicPr>
          <p:cNvPr id="12" name="Learn 3 icon" descr="preencoded.png">    </p:cNvPr>
          <p:cNvPicPr>
            <a:picLocks noChangeAspect="1"/>
          </p:cNvPicPr>
          <p:nvPr/>
        </p:nvPicPr>
        <p:blipFill>
          <a:blip r:embed="rId3"/>
          <a:stretch>
            <a:fillRect/>
          </a:stretch>
        </p:blipFill>
        <p:spPr>
          <a:xfrm>
            <a:off x="708660" y="3771900"/>
            <a:ext cx="320040" cy="320040"/>
          </a:xfrm>
          <a:prstGeom prst="rect">
            <a:avLst/>
          </a:prstGeom>
        </p:spPr>
      </p:pic>
      <p:sp>
        <p:nvSpPr>
          <p:cNvPr id="13" name="Text 8"/>
          <p:cNvSpPr txBox="1"/>
          <p:nvPr/>
        </p:nvSpPr>
        <p:spPr>
          <a:xfrm>
            <a:off x="1417320" y="3593592"/>
            <a:ext cx="5760720" cy="365760"/>
          </a:xfrm>
          <a:prstGeom prst="rect">
            <a:avLst/>
          </a:prstGeom>
          <a:noFill/>
          <a:ln/>
        </p:spPr>
        <p:txBody>
          <a:bodyPr wrap="square" lIns="0" tIns="0" rIns="0" bIns="0" rtlCol="0" anchor="ctr"/>
          <a:lstStyle/>
          <a:p>
            <a:pPr indent="0" marL="0">
              <a:buNone/>
            </a:pPr>
            <a:r>
              <a:rPr lang="en-US" sz="1800" b="1" dirty="0">
                <a:solidFill>
                  <a:schemeClr val="bg1"/>
                </a:solidFill>
              </a:rPr>
              <a:t>Baselines are essential</a:t>
            </a:r>
            <a:endParaRPr lang="en-US" sz="1800" dirty="0"/>
          </a:p>
        </p:txBody>
      </p:sp>
      <p:sp>
        <p:nvSpPr>
          <p:cNvPr id="14" name="Text 9"/>
          <p:cNvSpPr txBox="1"/>
          <p:nvPr/>
        </p:nvSpPr>
        <p:spPr>
          <a:xfrm>
            <a:off x="1417320" y="3959352"/>
            <a:ext cx="5760720" cy="685800"/>
          </a:xfrm>
          <a:prstGeom prst="rect">
            <a:avLst/>
          </a:prstGeom>
          <a:noFill/>
          <a:ln/>
        </p:spPr>
        <p:txBody>
          <a:bodyPr wrap="square" lIns="0" tIns="0" rIns="0" bIns="0" rtlCol="0" anchor="t"/>
          <a:lstStyle/>
          <a:p>
            <a:pPr indent="0" marL="0">
              <a:buNone/>
            </a:pPr>
            <a:r>
              <a:rPr lang="en-US" sz="1300" dirty="0">
                <a:solidFill>
                  <a:schemeClr val="accent6"/>
                </a:solidFill>
              </a:rPr>
              <a:t>Without a predict-0 row, a 3.36% error looks meaningless. With it, the honest answer is clear.</a:t>
            </a:r>
            <a:endParaRPr lang="en-US" sz="1300" dirty="0"/>
          </a:p>
        </p:txBody>
      </p:sp>
      <p:sp>
        <p:nvSpPr>
          <p:cNvPr id="15" name="Text 10"/>
          <p:cNvSpPr txBox="1"/>
          <p:nvPr/>
        </p:nvSpPr>
        <p:spPr>
          <a:xfrm>
            <a:off x="7772400" y="1371600"/>
            <a:ext cx="3840480" cy="365760"/>
          </a:xfrm>
          <a:prstGeom prst="rect">
            <a:avLst/>
          </a:prstGeom>
          <a:noFill/>
          <a:ln/>
        </p:spPr>
        <p:txBody>
          <a:bodyPr wrap="square" lIns="0" tIns="0" rIns="0" bIns="0" rtlCol="0" anchor="ctr"/>
          <a:lstStyle/>
          <a:p>
            <a:pPr indent="0" marL="0">
              <a:buNone/>
            </a:pPr>
            <a:r>
              <a:rPr lang="en-US" sz="1600" b="1" dirty="0">
                <a:solidFill>
                  <a:schemeClr val="accent1"/>
                </a:solidFill>
              </a:rPr>
              <a:t>Limitations</a:t>
            </a:r>
            <a:endParaRPr lang="en-US" sz="1600" dirty="0"/>
          </a:p>
        </p:txBody>
      </p:sp>
      <p:sp>
        <p:nvSpPr>
          <p:cNvPr id="16" name="Limitations"/>
          <p:cNvSpPr txBox="1"/>
          <p:nvPr/>
        </p:nvSpPr>
        <p:spPr>
          <a:xfrm>
            <a:off x="7772400" y="1783080"/>
            <a:ext cx="3840480" cy="13258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1"/>
                </a:solidFill>
              </a:rPr>
              <a:t>Hand-picked supplier list</a:t>
            </a:r>
            <a:endParaRPr lang="en-US" sz="1300" dirty="0"/>
          </a:p>
          <a:p>
            <a:pPr marL="342900" indent="-342900">
              <a:spcAft>
                <a:spcPts val="400"/>
              </a:spcAft>
              <a:buSzPct val="100000"/>
              <a:buChar char="•"/>
            </a:pPr>
            <a:r>
              <a:rPr lang="en-US" sz="1300" dirty="0">
                <a:solidFill>
                  <a:schemeClr val="bg1"/>
                </a:solidFill>
              </a:rPr>
              <a:t>One validation period, small tuning grids</a:t>
            </a:r>
            <a:endParaRPr lang="en-US" sz="1300" dirty="0"/>
          </a:p>
          <a:p>
            <a:pPr marL="342900" indent="-342900">
              <a:spcAft>
                <a:spcPts val="400"/>
              </a:spcAft>
              <a:buSzPct val="100000"/>
              <a:buChar char="•"/>
            </a:pPr>
            <a:r>
              <a:rPr lang="en-US" sz="1300" dirty="0">
                <a:solidFill>
                  <a:schemeClr val="bg1"/>
                </a:solidFill>
              </a:rPr>
              <a:t>No slippage or taxes</a:t>
            </a:r>
            <a:endParaRPr lang="en-US" sz="1300" dirty="0"/>
          </a:p>
          <a:p>
            <a:pPr marL="342900" indent="-342900">
              <a:spcAft>
                <a:spcPts val="400"/>
              </a:spcAft>
              <a:buSzPct val="100000"/>
              <a:buChar char="•"/>
            </a:pPr>
            <a:r>
              <a:rPr lang="en-US" sz="1300" dirty="0">
                <a:solidFill>
                  <a:schemeClr val="bg1"/>
                </a:solidFill>
              </a:rPr>
              <a:t>One target stock</a:t>
            </a:r>
            <a:endParaRPr lang="en-US" sz="1300" dirty="0"/>
          </a:p>
        </p:txBody>
      </p:sp>
      <p:sp>
        <p:nvSpPr>
          <p:cNvPr id="17" name="Text 12"/>
          <p:cNvSpPr txBox="1"/>
          <p:nvPr/>
        </p:nvSpPr>
        <p:spPr>
          <a:xfrm>
            <a:off x="7772400" y="3246120"/>
            <a:ext cx="3840480" cy="365760"/>
          </a:xfrm>
          <a:prstGeom prst="rect">
            <a:avLst/>
          </a:prstGeom>
          <a:noFill/>
          <a:ln/>
        </p:spPr>
        <p:txBody>
          <a:bodyPr wrap="square" lIns="0" tIns="0" rIns="0" bIns="0" rtlCol="0" anchor="ctr"/>
          <a:lstStyle/>
          <a:p>
            <a:pPr indent="0" marL="0">
              <a:buNone/>
            </a:pPr>
            <a:r>
              <a:rPr lang="en-US" sz="1600" b="1" dirty="0">
                <a:solidFill>
                  <a:schemeClr val="accent1"/>
                </a:solidFill>
              </a:rPr>
              <a:t>Next steps</a:t>
            </a:r>
            <a:endParaRPr lang="en-US" sz="1600" dirty="0"/>
          </a:p>
        </p:txBody>
      </p:sp>
      <p:sp>
        <p:nvSpPr>
          <p:cNvPr id="18" name="Next steps"/>
          <p:cNvSpPr txBox="1"/>
          <p:nvPr/>
        </p:nvSpPr>
        <p:spPr>
          <a:xfrm>
            <a:off x="7772400" y="3657600"/>
            <a:ext cx="3840480" cy="13258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1"/>
                </a:solidFill>
              </a:rPr>
              <a:t>Verified supply-chain data</a:t>
            </a:r>
            <a:endParaRPr lang="en-US" sz="1300" dirty="0"/>
          </a:p>
          <a:p>
            <a:pPr marL="342900" indent="-342900">
              <a:spcAft>
                <a:spcPts val="400"/>
              </a:spcAft>
              <a:buSzPct val="100000"/>
              <a:buChar char="•"/>
            </a:pPr>
            <a:r>
              <a:rPr lang="en-US" sz="1300" dirty="0">
                <a:solidFill>
                  <a:schemeClr val="bg1"/>
                </a:solidFill>
              </a:rPr>
              <a:t>Macro data (bond yields, INR/USD)</a:t>
            </a:r>
            <a:endParaRPr lang="en-US" sz="1300" dirty="0"/>
          </a:p>
          <a:p>
            <a:pPr marL="342900" indent="-342900">
              <a:spcAft>
                <a:spcPts val="400"/>
              </a:spcAft>
              <a:buSzPct val="100000"/>
              <a:buChar char="•"/>
            </a:pPr>
            <a:r>
              <a:rPr lang="en-US" sz="1300" dirty="0">
                <a:solidFill>
                  <a:schemeClr val="bg1"/>
                </a:solidFill>
              </a:rPr>
              <a:t>Re-tune in every walk-forward year</a:t>
            </a:r>
            <a:endParaRPr lang="en-US" sz="1300" dirty="0"/>
          </a:p>
          <a:p>
            <a:pPr marL="342900" indent="-342900">
              <a:spcAft>
                <a:spcPts val="400"/>
              </a:spcAft>
              <a:buSzPct val="100000"/>
              <a:buChar char="•"/>
            </a:pPr>
            <a:r>
              <a:rPr lang="en-US" sz="1300" dirty="0">
                <a:solidFill>
                  <a:schemeClr val="bg1"/>
                </a:solidFill>
              </a:rPr>
              <a:t>Other Indian automakers</a:t>
            </a:r>
            <a:endParaRPr lang="en-US" sz="1300" dirty="0"/>
          </a:p>
        </p:txBody>
      </p:sp>
      <p:sp>
        <p:nvSpPr>
          <p:cNvPr id="19" name="Divider"/>
          <p:cNvSpPr/>
          <p:nvPr/>
        </p:nvSpPr>
        <p:spPr>
          <a:xfrm>
            <a:off x="548640" y="4892040"/>
            <a:ext cx="11064240" cy="0"/>
          </a:xfrm>
          <a:prstGeom prst="line">
            <a:avLst/>
          </a:prstGeom>
          <a:noFill/>
          <a:ln w="9525">
            <a:solidFill>
              <a:srgbClr val="3D5A80"/>
            </a:solidFill>
            <a:prstDash val="solid"/>
          </a:ln>
        </p:spPr>
      </p:sp>
      <p:sp>
        <p:nvSpPr>
          <p:cNvPr id="20" name="Nyssa circle"/>
          <p:cNvSpPr/>
          <p:nvPr/>
        </p:nvSpPr>
        <p:spPr>
          <a:xfrm>
            <a:off x="548640" y="5166360"/>
            <a:ext cx="502920" cy="502920"/>
          </a:xfrm>
          <a:prstGeom prst="ellipse">
            <a:avLst/>
          </a:prstGeom>
          <a:solidFill>
            <a:schemeClr val="accent5"/>
          </a:solidFill>
          <a:ln/>
        </p:spPr>
      </p:sp>
      <p:pic>
        <p:nvPicPr>
          <p:cNvPr id="21" name="Nyssa icon" descr="preencoded.png">    </p:cNvPr>
          <p:cNvPicPr>
            <a:picLocks noChangeAspect="1"/>
          </p:cNvPicPr>
          <p:nvPr/>
        </p:nvPicPr>
        <p:blipFill>
          <a:blip r:embed="rId4"/>
          <a:stretch>
            <a:fillRect/>
          </a:stretch>
        </p:blipFill>
        <p:spPr>
          <a:xfrm>
            <a:off x="674370" y="5292090"/>
            <a:ext cx="251460" cy="251460"/>
          </a:xfrm>
          <a:prstGeom prst="rect">
            <a:avLst/>
          </a:prstGeom>
        </p:spPr>
      </p:pic>
      <p:sp>
        <p:nvSpPr>
          <p:cNvPr id="22" name="Text 16"/>
          <p:cNvSpPr txBox="1"/>
          <p:nvPr/>
        </p:nvSpPr>
        <p:spPr>
          <a:xfrm>
            <a:off x="1188720" y="5074920"/>
            <a:ext cx="4754880" cy="1005840"/>
          </a:xfrm>
          <a:prstGeom prst="rect">
            <a:avLst/>
          </a:prstGeom>
          <a:noFill/>
          <a:ln/>
        </p:spPr>
        <p:txBody>
          <a:bodyPr wrap="square" lIns="0" tIns="0" rIns="0" bIns="0" rtlCol="0" anchor="t"/>
          <a:lstStyle/>
          <a:p>
            <a:pPr indent="0" marL="0">
              <a:buNone/>
            </a:pPr>
            <a:r>
              <a:rPr lang="en-US" sz="1200" b="1" dirty="0">
                <a:solidFill>
                  <a:schemeClr val="bg1"/>
                </a:solidFill>
              </a:rPr>
              <a:t>Nyssa</a:t>
            </a:r>
            <a:endParaRPr lang="en-US" sz="1200" dirty="0"/>
          </a:p>
          <a:p>
            <a:pPr indent="0" marL="0">
              <a:buNone/>
            </a:pPr>
            <a:r>
              <a:rPr lang="en-US" sz="1200" dirty="0">
                <a:solidFill>
                  <a:schemeClr val="accent6"/>
                </a:solidFill>
              </a:rPr>
              <a:t>Data pipeline &amp; supplier selection, features, backtest &amp; risk metrics, dashboard, write-up &amp; slides</a:t>
            </a:r>
            <a:endParaRPr lang="en-US" sz="1200" dirty="0"/>
          </a:p>
        </p:txBody>
      </p:sp>
      <p:sp>
        <p:nvSpPr>
          <p:cNvPr id="23" name="Yathindra circle"/>
          <p:cNvSpPr/>
          <p:nvPr/>
        </p:nvSpPr>
        <p:spPr>
          <a:xfrm>
            <a:off x="6172200" y="5166360"/>
            <a:ext cx="502920" cy="502920"/>
          </a:xfrm>
          <a:prstGeom prst="ellipse">
            <a:avLst/>
          </a:prstGeom>
          <a:solidFill>
            <a:schemeClr val="accent5"/>
          </a:solidFill>
          <a:ln/>
        </p:spPr>
      </p:sp>
      <p:pic>
        <p:nvPicPr>
          <p:cNvPr id="24" name="Yathindra icon" descr="preencoded.png">    </p:cNvPr>
          <p:cNvPicPr>
            <a:picLocks noChangeAspect="1"/>
          </p:cNvPicPr>
          <p:nvPr/>
        </p:nvPicPr>
        <p:blipFill>
          <a:blip r:embed="rId5"/>
          <a:stretch>
            <a:fillRect/>
          </a:stretch>
        </p:blipFill>
        <p:spPr>
          <a:xfrm>
            <a:off x="6297930" y="5292090"/>
            <a:ext cx="251460" cy="251460"/>
          </a:xfrm>
          <a:prstGeom prst="rect">
            <a:avLst/>
          </a:prstGeom>
        </p:spPr>
      </p:pic>
      <p:sp>
        <p:nvSpPr>
          <p:cNvPr id="25" name="Text 18"/>
          <p:cNvSpPr txBox="1"/>
          <p:nvPr/>
        </p:nvSpPr>
        <p:spPr>
          <a:xfrm>
            <a:off x="6812280" y="5074920"/>
            <a:ext cx="4754880" cy="1005840"/>
          </a:xfrm>
          <a:prstGeom prst="rect">
            <a:avLst/>
          </a:prstGeom>
          <a:noFill/>
          <a:ln/>
        </p:spPr>
        <p:txBody>
          <a:bodyPr wrap="square" lIns="0" tIns="0" rIns="0" bIns="0" rtlCol="0" anchor="t"/>
          <a:lstStyle/>
          <a:p>
            <a:pPr indent="0" marL="0">
              <a:buNone/>
            </a:pPr>
            <a:r>
              <a:rPr lang="en-US" sz="1200" b="1" dirty="0">
                <a:solidFill>
                  <a:schemeClr val="bg1"/>
                </a:solidFill>
              </a:rPr>
              <a:t>Yathindra</a:t>
            </a:r>
            <a:endParaRPr lang="en-US" sz="1200" dirty="0"/>
          </a:p>
          <a:p>
            <a:pPr indent="0" marL="0">
              <a:buNone/>
            </a:pPr>
            <a:r>
              <a:rPr lang="en-US" sz="1200" dirty="0">
                <a:solidFill>
                  <a:schemeClr val="accent6"/>
                </a:solidFill>
              </a:rPr>
              <a:t>Models &amp; tuning, evaluation (baselines, ablation, walk-forward, horizons), tests, experiments &amp; analysis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8046720" cy="1737360"/>
          </a:xfrm>
          <a:prstGeom prst="rect">
            <a:avLst/>
          </a:prstGeom>
          <a:noFill/>
          <a:ln/>
        </p:spPr>
        <p:txBody>
          <a:bodyPr wrap="square" lIns="0" tIns="0" rIns="0" bIns="0" rtlCol="0" anchor="b"/>
          <a:lstStyle/>
          <a:p>
            <a:pPr algn="l" indent="0" marL="0">
              <a:buNone/>
            </a:pPr>
            <a:r>
              <a:rPr lang="en-US" sz="4400" b="1" dirty="0">
                <a:solidFill>
                  <a:schemeClr val="bg1"/>
                </a:solidFill>
              </a:rPr>
              <a:t>Live demo &amp; questions</a:t>
            </a:r>
            <a:endParaRPr lang="en-US" sz="4400" dirty="0"/>
          </a:p>
        </p:txBody>
      </p:sp>
      <p:sp>
        <p:nvSpPr>
          <p:cNvPr id="3" name="Text 0"/>
          <p:cNvSpPr/>
          <p:nvPr>
            <p:ph idx="101" type="body" hasCustomPrompt="1"/>
          </p:nvPr>
        </p:nvSpPr>
        <p:spPr>
          <a:xfrm>
            <a:off x="731520" y="3749040"/>
            <a:ext cx="8046720" cy="822960"/>
          </a:xfrm>
          <a:prstGeom prst="rect">
            <a:avLst/>
          </a:prstGeom>
          <a:noFill/>
          <a:ln/>
        </p:spPr>
        <p:txBody>
          <a:bodyPr wrap="square" lIns="0" tIns="0" rIns="0" bIns="0" rtlCol="0" anchor="t"/>
          <a:lstStyle/>
          <a:p>
            <a:pPr algn="l" indent="0" marL="0">
              <a:buNone/>
            </a:pPr>
            <a:r>
              <a:rPr lang="en-US" sz="2000" dirty="0">
                <a:solidFill>
                  <a:schemeClr val="accent6"/>
                </a:solidFill>
              </a:rPr>
              <a:t>Streamlit dashboard · Yahoo Finance data · code on GitHub</a:t>
            </a:r>
            <a:endParaRPr lang="en-US" sz="2000" dirty="0"/>
          </a:p>
        </p:txBody>
      </p:sp>
      <p:sp>
        <p:nvSpPr>
          <p:cNvPr id="4" name="Demo step 1"/>
          <p:cNvSpPr/>
          <p:nvPr/>
        </p:nvSpPr>
        <p:spPr>
          <a:xfrm>
            <a:off x="9144000" y="1371600"/>
            <a:ext cx="457200" cy="457200"/>
          </a:xfrm>
          <a:prstGeom prst="ellipse">
            <a:avLst/>
          </a:prstGeom>
          <a:solidFill>
            <a:schemeClr val="accent1"/>
          </a:solidFill>
          <a:ln/>
        </p:spPr>
      </p:sp>
      <p:sp>
        <p:nvSpPr>
          <p:cNvPr id="5" name="Text 3"/>
          <p:cNvSpPr txBox="1"/>
          <p:nvPr/>
        </p:nvSpPr>
        <p:spPr>
          <a:xfrm>
            <a:off x="9144000" y="137160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6" name="Text 4"/>
          <p:cNvSpPr txBox="1"/>
          <p:nvPr/>
        </p:nvSpPr>
        <p:spPr>
          <a:xfrm>
            <a:off x="9738360" y="1371600"/>
            <a:ext cx="2103120" cy="457200"/>
          </a:xfrm>
          <a:prstGeom prst="rect">
            <a:avLst/>
          </a:prstGeom>
          <a:noFill/>
          <a:ln/>
        </p:spPr>
        <p:txBody>
          <a:bodyPr wrap="square" lIns="0" tIns="0" rIns="0" bIns="0" rtlCol="0" anchor="ctr"/>
          <a:lstStyle/>
          <a:p>
            <a:pPr indent="0" marL="0">
              <a:buNone/>
            </a:pPr>
            <a:r>
              <a:rPr lang="en-US" sz="1300" dirty="0">
                <a:solidFill>
                  <a:schemeClr val="bg1"/>
                </a:solidFill>
              </a:rPr>
              <a:t>Load MARUTI.NS + suppliers</a:t>
            </a:r>
            <a:endParaRPr lang="en-US" sz="1300" dirty="0"/>
          </a:p>
        </p:txBody>
      </p:sp>
      <p:sp>
        <p:nvSpPr>
          <p:cNvPr id="7" name="Demo step 2"/>
          <p:cNvSpPr/>
          <p:nvPr/>
        </p:nvSpPr>
        <p:spPr>
          <a:xfrm>
            <a:off x="9144000" y="2148840"/>
            <a:ext cx="457200" cy="457200"/>
          </a:xfrm>
          <a:prstGeom prst="ellipse">
            <a:avLst/>
          </a:prstGeom>
          <a:solidFill>
            <a:schemeClr val="accent1"/>
          </a:solidFill>
          <a:ln/>
        </p:spPr>
      </p:sp>
      <p:sp>
        <p:nvSpPr>
          <p:cNvPr id="8" name="Text 6"/>
          <p:cNvSpPr txBox="1"/>
          <p:nvPr/>
        </p:nvSpPr>
        <p:spPr>
          <a:xfrm>
            <a:off x="9144000" y="214884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9" name="Text 7"/>
          <p:cNvSpPr txBox="1"/>
          <p:nvPr/>
        </p:nvSpPr>
        <p:spPr>
          <a:xfrm>
            <a:off x="9738360" y="2148840"/>
            <a:ext cx="2103120" cy="457200"/>
          </a:xfrm>
          <a:prstGeom prst="rect">
            <a:avLst/>
          </a:prstGeom>
          <a:noFill/>
          <a:ln/>
        </p:spPr>
        <p:txBody>
          <a:bodyPr wrap="square" lIns="0" tIns="0" rIns="0" bIns="0" rtlCol="0" anchor="ctr"/>
          <a:lstStyle/>
          <a:p>
            <a:pPr indent="0" marL="0">
              <a:buNone/>
            </a:pPr>
            <a:r>
              <a:rPr lang="en-US" sz="1300" dirty="0">
                <a:solidFill>
                  <a:schemeClr val="bg1"/>
                </a:solidFill>
              </a:rPr>
              <a:t>Train and compare with predict-0</a:t>
            </a:r>
            <a:endParaRPr lang="en-US" sz="1300" dirty="0"/>
          </a:p>
        </p:txBody>
      </p:sp>
      <p:sp>
        <p:nvSpPr>
          <p:cNvPr id="10" name="Demo step 3"/>
          <p:cNvSpPr/>
          <p:nvPr/>
        </p:nvSpPr>
        <p:spPr>
          <a:xfrm>
            <a:off x="9144000" y="2926080"/>
            <a:ext cx="457200" cy="457200"/>
          </a:xfrm>
          <a:prstGeom prst="ellipse">
            <a:avLst/>
          </a:prstGeom>
          <a:solidFill>
            <a:schemeClr val="accent1"/>
          </a:solidFill>
          <a:ln/>
        </p:spPr>
      </p:sp>
      <p:sp>
        <p:nvSpPr>
          <p:cNvPr id="11" name="Text 9"/>
          <p:cNvSpPr txBox="1"/>
          <p:nvPr/>
        </p:nvSpPr>
        <p:spPr>
          <a:xfrm>
            <a:off x="9144000" y="29260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Text 10"/>
          <p:cNvSpPr txBox="1"/>
          <p:nvPr/>
        </p:nvSpPr>
        <p:spPr>
          <a:xfrm>
            <a:off x="9738360" y="2926080"/>
            <a:ext cx="2103120" cy="457200"/>
          </a:xfrm>
          <a:prstGeom prst="rect">
            <a:avLst/>
          </a:prstGeom>
          <a:noFill/>
          <a:ln/>
        </p:spPr>
        <p:txBody>
          <a:bodyPr wrap="square" lIns="0" tIns="0" rIns="0" bIns="0" rtlCol="0" anchor="ctr"/>
          <a:lstStyle/>
          <a:p>
            <a:pPr indent="0" marL="0">
              <a:buNone/>
            </a:pPr>
            <a:r>
              <a:rPr lang="en-US" sz="1300" dirty="0">
                <a:solidFill>
                  <a:schemeClr val="bg1"/>
                </a:solidFill>
              </a:rPr>
              <a:t>With vs without suppliers</a:t>
            </a:r>
            <a:endParaRPr lang="en-US" sz="1300" dirty="0"/>
          </a:p>
        </p:txBody>
      </p:sp>
      <p:sp>
        <p:nvSpPr>
          <p:cNvPr id="13" name="Demo step 4"/>
          <p:cNvSpPr/>
          <p:nvPr/>
        </p:nvSpPr>
        <p:spPr>
          <a:xfrm>
            <a:off x="9144000" y="3703320"/>
            <a:ext cx="457200" cy="457200"/>
          </a:xfrm>
          <a:prstGeom prst="ellipse">
            <a:avLst/>
          </a:prstGeom>
          <a:solidFill>
            <a:schemeClr val="accent1"/>
          </a:solidFill>
          <a:ln/>
        </p:spPr>
      </p:sp>
      <p:sp>
        <p:nvSpPr>
          <p:cNvPr id="14" name="Text 12"/>
          <p:cNvSpPr txBox="1"/>
          <p:nvPr/>
        </p:nvSpPr>
        <p:spPr>
          <a:xfrm>
            <a:off x="9144000" y="370332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5" name="Text 13"/>
          <p:cNvSpPr txBox="1"/>
          <p:nvPr/>
        </p:nvSpPr>
        <p:spPr>
          <a:xfrm>
            <a:off x="9738360" y="3703320"/>
            <a:ext cx="2103120" cy="457200"/>
          </a:xfrm>
          <a:prstGeom prst="rect">
            <a:avLst/>
          </a:prstGeom>
          <a:noFill/>
          <a:ln/>
        </p:spPr>
        <p:txBody>
          <a:bodyPr wrap="square" lIns="0" tIns="0" rIns="0" bIns="0" rtlCol="0" anchor="ctr"/>
          <a:lstStyle/>
          <a:p>
            <a:pPr indent="0" marL="0">
              <a:buNone/>
            </a:pPr>
            <a:r>
              <a:rPr lang="en-US" sz="1300" dirty="0">
                <a:solidFill>
                  <a:schemeClr val="bg1"/>
                </a:solidFill>
              </a:rPr>
              <a:t>Move the cost and threshold sliders</a:t>
            </a:r>
            <a:endParaRPr lang="en-US" sz="1300" dirty="0"/>
          </a:p>
        </p:txBody>
      </p:sp>
      <p:sp>
        <p:nvSpPr>
          <p:cNvPr id="16" name="Demo step 5"/>
          <p:cNvSpPr/>
          <p:nvPr/>
        </p:nvSpPr>
        <p:spPr>
          <a:xfrm>
            <a:off x="9144000" y="4480560"/>
            <a:ext cx="457200" cy="457200"/>
          </a:xfrm>
          <a:prstGeom prst="ellipse">
            <a:avLst/>
          </a:prstGeom>
          <a:solidFill>
            <a:schemeClr val="accent1"/>
          </a:solidFill>
          <a:ln/>
        </p:spPr>
      </p:sp>
      <p:sp>
        <p:nvSpPr>
          <p:cNvPr id="17" name="Text 15"/>
          <p:cNvSpPr txBox="1"/>
          <p:nvPr/>
        </p:nvSpPr>
        <p:spPr>
          <a:xfrm>
            <a:off x="9144000" y="448056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18" name="Text 16"/>
          <p:cNvSpPr txBox="1"/>
          <p:nvPr/>
        </p:nvSpPr>
        <p:spPr>
          <a:xfrm>
            <a:off x="9738360" y="4480560"/>
            <a:ext cx="2103120" cy="457200"/>
          </a:xfrm>
          <a:prstGeom prst="rect">
            <a:avLst/>
          </a:prstGeom>
          <a:noFill/>
          <a:ln/>
        </p:spPr>
        <p:txBody>
          <a:bodyPr wrap="square" lIns="0" tIns="0" rIns="0" bIns="0" rtlCol="0" anchor="ctr"/>
          <a:lstStyle/>
          <a:p>
            <a:pPr indent="0" marL="0">
              <a:buNone/>
            </a:pPr>
            <a:r>
              <a:rPr lang="en-US" sz="1300" dirty="0">
                <a:solidFill>
                  <a:schemeClr val="bg1"/>
                </a:solidFill>
              </a:rPr>
              <a:t>Walk-forward check</a:t>
            </a:r>
            <a:endParaRPr lang="en-US" sz="1300" dirty="0"/>
          </a:p>
        </p:txBody>
      </p:sp>
    </p:spTree>
  </p:cSld>
  <p:clrMapOvr>
    <a:masterClrMapping/>
  </p:clrMapOvr>
</p:sld>
</file>

<file path=ppt/theme/theme1.xml><?xml version="1.0" encoding="utf-8"?>
<a:theme xmlns:a="http://schemas.openxmlformats.org/drawingml/2006/main" name="Supplier Signals">
  <a:themeElements>
    <a:clrScheme name="Supplier Signals">
      <a:dk1>
        <a:srgbClr val="1B1F24"/>
      </a:dk1>
      <a:lt1>
        <a:srgbClr val="FFFFFF"/>
      </a:lt1>
      <a:dk2>
        <a:srgbClr val="14213D"/>
      </a:dk2>
      <a:lt2>
        <a:srgbClr val="EEF2F7"/>
      </a:lt2>
      <a:accent1>
        <a:srgbClr val="FCA311"/>
      </a:accent1>
      <a:accent2>
        <a:srgbClr val="2A9D8F"/>
      </a:accent2>
      <a:accent3>
        <a:srgbClr val="8D99AE"/>
      </a:accent3>
      <a:accent4>
        <a:srgbClr val="E76F51"/>
      </a:accent4>
      <a:accent5>
        <a:srgbClr val="3D5A80"/>
      </a:accent5>
      <a:accent6>
        <a:srgbClr val="98C1D9"/>
      </a:accent6>
      <a:hlink>
        <a:srgbClr val="2A9D8F"/>
      </a:hlink>
      <a:folHlink>
        <a:srgbClr val="3D5A80"/>
      </a:folHlink>
    </a:clrScheme>
    <a:fontScheme name="Supplier Signal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Indian Stock Returns from Supplier Stocks</dc:title>
  <dc:subject>PptxGenJS Presentation</dc:subject>
  <dc:creator>Nyssa, Yathindra</dc:creator>
  <cp:lastModifiedBy>Nyssa, Yathindra</cp:lastModifiedBy>
  <cp:revision>1</cp:revision>
  <dcterms:created xsi:type="dcterms:W3CDTF">2026-10-13T06:18:09Z</dcterms:created>
  <dcterms:modified xsi:type="dcterms:W3CDTF">2026-10-13T06:18:09Z</dcterms:modified>
</cp:coreProperties>
</file>